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parking needs a marketplace" id="{6c877954-df83-e8bb-5423-4cc70bf3a04d}">
          <p14:sldIdLst>
            <p14:sldId id="256"/>
            <p14:sldId id="257"/>
          </p14:sldIdLst>
        </p14:section>
        <p14:section name="What ParkStop is and how it works" id="{d09a1b1b-c352-64d9-5972-27847fa22d92}">
          <p14:sldIdLst>
            <p14:sldId id="258"/>
            <p14:sldId id="259"/>
          </p14:sldIdLst>
        </p14:section>
        <p14:section name="Trust, payments and engineering" id="{0e1ee6a7-25cd-f49d-6261-c6a9c62b4fef}">
          <p14:sldIdLst>
            <p14:sldId id="260"/>
            <p14:sldId id="261"/>
            <p14:sldId id="262"/>
            <p14:sldId id="263"/>
            <p14:sldId id="264"/>
          </p14:sldIdLst>
        </p14:section>
        <p14:section name="Live demo, roadmap and the ask" id="{93a6a0af-4f64-ddb7-e5f1-ff65c8b1b38f}">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ParkStop. We built a peer-to-peer parking marketplace: people with an empty driveway or parking bay list it, and drivers nearby book it in seconds. I'll show you the problem, how it works, how we built trust and payments into it, and then a live demo on the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here has circled a block looking for parking. At the same time, houses, shops and offices have parking bays sitting empty for hours. The missing piece isn't space, it's trust and a way to connect the two sides.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ParkStop is one app with two modes. Drivers see a live map of spots near them with price and availability, book, pay by UPI and check in with an OTP. Owners list their space, get notified of bookings, verify the driver at the gate and track earnings. One account can be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booking end to end. The driver finds a verified spot. Booking locks the slot immediately, so two people can never get the same bay, and payment goes through Razorpay. At the spot, the driver shows a one-time code and the owner verifies it. At the end, the owner confirms the car has left and the money settles.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parking marketplace only works if both sides trust it. Every login needs an email OTP. Only verified owners appear to drivers. Check-in and check-out are confirmed with one-time codes. And we designed for privacy: we keep the results of checks, never the full Aadhaar number, the Aadhaar photo or the selfie.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 owner's spot is shown to anyone, they pass five checks. Aadhaar through DigiLocker, the government's own app, with their consent. PAN, which must match the Aadhaar name. A live selfie matched to the Aadhaar photo. A bank account in their own name, which becomes the only account we pay out to. And a property document that our team reviews. DigiLocker works today; PAN, selfie and bank go live once our verification partner approves our production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Prices adjust to time of day, location and demand, with a surge as a spot fills up. On payments, the server never trusts the phone: every payment is checked against the exact order, booking, driver and amount before a booking is marked paid. Settlement covers four cases: online, cash, unpaid dues carried to the next booking, and recovery when a payment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hood: a React Native app on Expo, with MapLibre and Ola Maps for maps and Socket.IO for live updates. A Node and Express API on Railway, with rate limiting. PostgreSQL through Prisma, using row-level locks so the same bay can never be booked twice. And trusted partners for identity, payments, verification and notifications.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 it like it handles real money, because it does. 275 automated backend tests run on every change, including security tests for the payment and booking paths. Bookings use database row locks, so the same bay can't be booked twice. And a payment only counts after four checks: Razorpay's signature, that the order belongs to this booking and driver, that it was captured in full, and that it hasn't been used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live demo, on the phone, against our real server. I'll log in with the OTP, find a spot near us, book and pay, then switch to the owner side to show the dashboard and verification, and finish on the admin review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take full owner verification live, switch on automatic payouts to verified bank accounts, run a pilot in Bengaluru and release on the Play Store. We're looking for pilot partners such as apartment associations, campuses and offices, mentors in mobility and marketplaces, and your feedback. 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C0C14"/>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77240" y="640080"/>
            <a:ext cx="10637215" cy="365760"/>
          </a:xfrm>
          <a:prstGeom prst="rect">
            <a:avLst/>
          </a:prstGeom>
          <a:noFill/>
          <a:ln/>
        </p:spPr>
        <p:txBody>
          <a:bodyPr wrap="square" rtlCol="0"/>
          <a:lstStyle>
            <a:lvl1pPr algn="l" indent="0" marL="0">
              <a:buNone/>
              <a:defRPr lang="en-US" sz="1400" b="1" spc="300" kern="0" dirty="0">
                <a:solidFill>
                  <a:srgbClr val="FF8A57"/>
                </a:solidFill>
              </a:defRPr>
            </a:lvl1pPr>
          </a:lstStyle>
          <a:p>
            <a:pPr algn="l" indent="0" marL="0">
              <a:buNone/>
            </a:pPr>
            <a:endParaRPr lang="en-US" sz="1400" dirty="0"/>
          </a:p>
        </p:txBody>
      </p:sp>
      <p:sp>
        <p:nvSpPr>
          <p:cNvPr id="3" name="Text 0"/>
          <p:cNvSpPr/>
          <p:nvPr>
            <p:ph idx="101" type="title" hasCustomPrompt="1"/>
          </p:nvPr>
        </p:nvSpPr>
        <p:spPr>
          <a:xfrm>
            <a:off x="777240" y="1005840"/>
            <a:ext cx="10637215" cy="1371600"/>
          </a:xfrm>
          <a:prstGeom prst="rect">
            <a:avLst/>
          </a:prstGeom>
          <a:noFill/>
          <a:ln/>
        </p:spPr>
        <p:txBody>
          <a:bodyPr wrap="square" rtlCol="0"/>
          <a:lstStyle>
            <a:lvl1pPr algn="l" indent="0" marL="0">
              <a:buNone/>
              <a:defRPr lang="en-US" sz="4000" b="1" dirty="0">
                <a:solidFill>
                  <a:srgbClr val="F7F5F0"/>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08658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8A57"/>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7F5F0"/>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77240" y="640080"/>
            <a:ext cx="10637215" cy="365760"/>
          </a:xfrm>
          <a:prstGeom prst="rect">
            <a:avLst/>
          </a:prstGeom>
          <a:noFill/>
          <a:ln/>
        </p:spPr>
        <p:txBody>
          <a:bodyPr wrap="square" rtlCol="0"/>
          <a:lstStyle>
            <a:lvl1pPr algn="l" indent="0" marL="0">
              <a:buNone/>
              <a:defRPr lang="en-US" sz="1400" b="1" spc="300" kern="0" dirty="0">
                <a:solidFill>
                  <a:srgbClr val="C84A12"/>
                </a:solidFill>
              </a:defRPr>
            </a:lvl1pPr>
          </a:lstStyle>
          <a:p>
            <a:pPr algn="l" indent="0" marL="0">
              <a:buNone/>
            </a:pPr>
            <a:endParaRPr lang="en-US" sz="1400" dirty="0"/>
          </a:p>
        </p:txBody>
      </p:sp>
      <p:sp>
        <p:nvSpPr>
          <p:cNvPr id="3" name="Text 0"/>
          <p:cNvSpPr/>
          <p:nvPr>
            <p:ph idx="101" type="title" hasCustomPrompt="1"/>
          </p:nvPr>
        </p:nvSpPr>
        <p:spPr>
          <a:xfrm>
            <a:off x="777240" y="1005840"/>
            <a:ext cx="10637215" cy="1371600"/>
          </a:xfrm>
          <a:prstGeom prst="rect">
            <a:avLst/>
          </a:prstGeom>
          <a:noFill/>
          <a:ln/>
        </p:spPr>
        <p:txBody>
          <a:bodyPr wrap="square" rtlCol="0"/>
          <a:lstStyle>
            <a:lvl1pPr algn="l" indent="0" marL="0">
              <a:buNone/>
              <a:defRPr lang="en-US" sz="4000" b="1" dirty="0">
                <a:solidFill>
                  <a:srgbClr val="14131C"/>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08658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C84A1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0C0C14"/>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ATEMENT">
    <p:bg>
      <p:bgPr>
        <a:solidFill>
          <a:srgbClr val="FF6B2C"/>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658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8A57"/>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Glow"/>
          <p:cNvSpPr/>
          <p:nvPr/>
        </p:nvSpPr>
        <p:spPr>
          <a:xfrm>
            <a:off x="7863840" y="-1097280"/>
            <a:ext cx="5852160" cy="5852160"/>
          </a:xfrm>
          <a:prstGeom prst="ellipse">
            <a:avLst/>
          </a:prstGeom>
          <a:solidFill>
            <a:srgbClr val="FF6B2C">
              <a:alpha val="22000"/>
            </a:srgbClr>
          </a:solidFill>
          <a:ln/>
        </p:spPr>
      </p:sp>
      <p:sp>
        <p:nvSpPr>
          <p:cNvPr id="3" name="Glow inner"/>
          <p:cNvSpPr/>
          <p:nvPr/>
        </p:nvSpPr>
        <p:spPr>
          <a:xfrm>
            <a:off x="8778240" y="-182880"/>
            <a:ext cx="4023360" cy="4023360"/>
          </a:xfrm>
          <a:prstGeom prst="ellipse">
            <a:avLst/>
          </a:prstGeom>
          <a:solidFill>
            <a:srgbClr val="FF6B2C">
              <a:alpha val="40000"/>
            </a:srgbClr>
          </a:solidFill>
          <a:ln/>
        </p:spPr>
      </p:sp>
      <p:sp>
        <p:nvSpPr>
          <p:cNvPr id="4" name="Text 2"/>
          <p:cNvSpPr txBox="1"/>
          <p:nvPr/>
        </p:nvSpPr>
        <p:spPr>
          <a:xfrm>
            <a:off x="777240" y="731520"/>
            <a:ext cx="8229600" cy="365760"/>
          </a:xfrm>
          <a:prstGeom prst="rect">
            <a:avLst/>
          </a:prstGeom>
          <a:noFill/>
          <a:ln/>
        </p:spPr>
        <p:txBody>
          <a:bodyPr wrap="square" lIns="0" tIns="0" rIns="0" bIns="0" rtlCol="0" anchor="t"/>
          <a:lstStyle/>
          <a:p>
            <a:pPr indent="0" marL="0">
              <a:buNone/>
            </a:pPr>
            <a:r>
              <a:rPr lang="en-US" sz="1400" b="1" spc="300" kern="0" dirty="0">
                <a:solidFill>
                  <a:srgbClr val="FF8A57"/>
                </a:solidFill>
                <a:latin typeface="Calibri" pitchFamily="34" charset="0"/>
                <a:ea typeface="Calibri" pitchFamily="34" charset="-122"/>
                <a:cs typeface="Calibri" pitchFamily="34" charset="-120"/>
              </a:rPr>
              <a:t>MANGALORE CS TECH SUMMIT 2026 · NITK SURATHKAL</a:t>
            </a:r>
            <a:endParaRPr lang="en-US" sz="1400" dirty="0"/>
          </a:p>
        </p:txBody>
      </p:sp>
      <p:sp>
        <p:nvSpPr>
          <p:cNvPr id="5" name="Text 3"/>
          <p:cNvSpPr txBox="1"/>
          <p:nvPr/>
        </p:nvSpPr>
        <p:spPr>
          <a:xfrm>
            <a:off x="777240" y="2011680"/>
            <a:ext cx="8229600" cy="1371600"/>
          </a:xfrm>
          <a:prstGeom prst="rect">
            <a:avLst/>
          </a:prstGeom>
          <a:noFill/>
          <a:ln/>
        </p:spPr>
        <p:txBody>
          <a:bodyPr wrap="square" lIns="0" tIns="0" rIns="0" bIns="0" rtlCol="0" anchor="t"/>
          <a:lstStyle/>
          <a:p>
            <a:pPr indent="0" marL="0">
              <a:buNone/>
            </a:pPr>
            <a:r>
              <a:rPr lang="en-US" sz="9600" b="1" dirty="0">
                <a:solidFill>
                  <a:srgbClr val="FF6B2C"/>
                </a:solidFill>
                <a:latin typeface="Arial" pitchFamily="34" charset="0"/>
                <a:ea typeface="Arial" pitchFamily="34" charset="-122"/>
                <a:cs typeface="Arial" pitchFamily="34" charset="-120"/>
              </a:rPr>
              <a:t>P</a:t>
            </a:r>
            <a:pPr indent="0" marL="0">
              <a:buNone/>
            </a:pPr>
            <a:r>
              <a:rPr lang="en-US" sz="9600" b="1" dirty="0">
                <a:solidFill>
                  <a:srgbClr val="F7F5F0"/>
                </a:solidFill>
                <a:latin typeface="Arial" pitchFamily="34" charset="0"/>
                <a:ea typeface="Arial" pitchFamily="34" charset="-122"/>
                <a:cs typeface="Arial" pitchFamily="34" charset="-120"/>
              </a:rPr>
              <a:t>arkStop</a:t>
            </a:r>
            <a:endParaRPr lang="en-US" sz="9600" dirty="0"/>
          </a:p>
        </p:txBody>
      </p:sp>
      <p:sp>
        <p:nvSpPr>
          <p:cNvPr id="6" name="Text 4"/>
          <p:cNvSpPr txBox="1"/>
          <p:nvPr/>
        </p:nvSpPr>
        <p:spPr>
          <a:xfrm>
            <a:off x="777240" y="3429000"/>
            <a:ext cx="8229600" cy="548640"/>
          </a:xfrm>
          <a:prstGeom prst="rect">
            <a:avLst/>
          </a:prstGeom>
          <a:noFill/>
          <a:ln/>
        </p:spPr>
        <p:txBody>
          <a:bodyPr wrap="square" lIns="0" tIns="0" rIns="0" bIns="0" rtlCol="0" anchor="t"/>
          <a:lstStyle/>
          <a:p>
            <a:pPr indent="0" marL="0">
              <a:buNone/>
            </a:pPr>
            <a:r>
              <a:rPr lang="en-US" sz="3000" dirty="0">
                <a:solidFill>
                  <a:srgbClr val="F7F5F0"/>
                </a:solidFill>
                <a:latin typeface="Arial" pitchFamily="34" charset="0"/>
                <a:ea typeface="Arial" pitchFamily="34" charset="-122"/>
                <a:cs typeface="Arial" pitchFamily="34" charset="-120"/>
              </a:rPr>
              <a:t>Find it. Park it. Go.</a:t>
            </a:r>
            <a:endParaRPr lang="en-US" sz="3000" dirty="0"/>
          </a:p>
        </p:txBody>
      </p:sp>
      <p:sp>
        <p:nvSpPr>
          <p:cNvPr id="7" name="Text 5"/>
          <p:cNvSpPr txBox="1"/>
          <p:nvPr/>
        </p:nvSpPr>
        <p:spPr>
          <a:xfrm>
            <a:off x="777240" y="4114800"/>
            <a:ext cx="6949440" cy="914400"/>
          </a:xfrm>
          <a:prstGeom prst="rect">
            <a:avLst/>
          </a:prstGeom>
          <a:noFill/>
          <a:ln/>
        </p:spPr>
        <p:txBody>
          <a:bodyPr wrap="square" lIns="0" tIns="0" rIns="0" bIns="0" rtlCol="0" anchor="t"/>
          <a:lstStyle/>
          <a:p>
            <a:pPr indent="0" marL="0">
              <a:buNone/>
            </a:pPr>
            <a:r>
              <a:rPr lang="en-US" sz="1800" dirty="0">
                <a:solidFill>
                  <a:srgbClr val="B9B6C4"/>
                </a:solidFill>
                <a:latin typeface="Calibri" pitchFamily="34" charset="0"/>
                <a:ea typeface="Calibri" pitchFamily="34" charset="-122"/>
                <a:cs typeface="Calibri" pitchFamily="34" charset="-120"/>
              </a:rPr>
              <a:t>A peer-to-peer marketplace that turns idle private parking into bookable spots for Indian cities.</a:t>
            </a:r>
            <a:endParaRPr lang="en-US" sz="1800" dirty="0"/>
          </a:p>
        </p:txBody>
      </p:sp>
      <p:sp>
        <p:nvSpPr>
          <p:cNvPr id="8" name="Text 6"/>
          <p:cNvSpPr txBox="1"/>
          <p:nvPr/>
        </p:nvSpPr>
        <p:spPr>
          <a:xfrm>
            <a:off x="777240" y="5989320"/>
            <a:ext cx="9144000" cy="365760"/>
          </a:xfrm>
          <a:prstGeom prst="rect">
            <a:avLst/>
          </a:prstGeom>
          <a:noFill/>
          <a:ln/>
        </p:spPr>
        <p:txBody>
          <a:bodyPr wrap="square" lIns="0" tIns="0" rIns="0" bIns="0" rtlCol="0" anchor="t"/>
          <a:lstStyle/>
          <a:p>
            <a:pPr indent="0" marL="0">
              <a:buNone/>
            </a:pPr>
            <a:r>
              <a:rPr lang="en-US" sz="1400" dirty="0">
                <a:solidFill>
                  <a:srgbClr val="B9B6C4"/>
                </a:solidFill>
                <a:latin typeface="Calibri" pitchFamily="34" charset="0"/>
                <a:ea typeface="Calibri" pitchFamily="34" charset="-122"/>
                <a:cs typeface="Calibri" pitchFamily="34" charset="-120"/>
              </a:rPr>
              <a:t>Poorvi H K  ·  Pavan Gowda G  ·  Mohith M   —   Student startup demo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777240" y="640080"/>
            <a:ext cx="10637215" cy="365760"/>
          </a:xfrm>
          <a:prstGeom prst="rect">
            <a:avLst/>
          </a:prstGeom>
          <a:noFill/>
          <a:ln/>
        </p:spPr>
        <p:txBody>
          <a:bodyPr wrap="square" lIns="0" tIns="0" rIns="0" bIns="0" rtlCol="0" anchor="t"/>
          <a:lstStyle/>
          <a:p>
            <a:pPr algn="l" indent="0" marL="0">
              <a:buNone/>
            </a:pPr>
            <a:r>
              <a:rPr lang="en-US" sz="1400" b="1" spc="300" kern="0" dirty="0">
                <a:solidFill>
                  <a:srgbClr val="C84A12"/>
                </a:solidFill>
              </a:rPr>
              <a:t>THE PROBLEM</a:t>
            </a:r>
            <a:endParaRPr lang="en-US" sz="1400" dirty="0"/>
          </a:p>
        </p:txBody>
      </p:sp>
      <p:sp>
        <p:nvSpPr>
          <p:cNvPr id="3" name="Text 0"/>
          <p:cNvSpPr/>
          <p:nvPr>
            <p:ph idx="101" type="title" hasCustomPrompt="1"/>
          </p:nvPr>
        </p:nvSpPr>
        <p:spPr>
          <a:xfrm>
            <a:off x="777240" y="1005840"/>
            <a:ext cx="10637215" cy="1371600"/>
          </a:xfrm>
          <a:prstGeom prst="rect">
            <a:avLst/>
          </a:prstGeom>
          <a:noFill/>
          <a:ln/>
        </p:spPr>
        <p:txBody>
          <a:bodyPr wrap="square" lIns="0" tIns="0" rIns="0" bIns="0" rtlCol="0" anchor="t"/>
          <a:lstStyle/>
          <a:p>
            <a:pPr algn="l" indent="0" marL="0">
              <a:buNone/>
            </a:pPr>
            <a:r>
              <a:rPr lang="en-US" sz="4000" b="1" dirty="0">
                <a:solidFill>
                  <a:srgbClr val="14131C"/>
                </a:solidFill>
                <a:latin typeface="Arial" pitchFamily="34" charset="0"/>
                <a:ea typeface="Arial" pitchFamily="34" charset="-122"/>
                <a:cs typeface="Arial" pitchFamily="34" charset="-120"/>
              </a:rPr>
              <a:t>Drivers circle for parking while private spaces sit empty</a:t>
            </a:r>
            <a:endParaRPr lang="en-US" sz="4000" dirty="0"/>
          </a:p>
        </p:txBody>
      </p:sp>
      <p:sp>
        <p:nvSpPr>
          <p:cNvPr id="4" name="Problem card 1"/>
          <p:cNvSpPr/>
          <p:nvPr/>
        </p:nvSpPr>
        <p:spPr>
          <a:xfrm>
            <a:off x="777240" y="3108960"/>
            <a:ext cx="3332378" cy="2651760"/>
          </a:xfrm>
          <a:prstGeom prst="roundRect">
            <a:avLst>
              <a:gd name="adj" fmla="val 4138"/>
            </a:avLst>
          </a:prstGeom>
          <a:solidFill>
            <a:srgbClr val="FFFFFF"/>
          </a:solidFill>
          <a:ln w="12700">
            <a:solidFill>
              <a:srgbClr val="E4E0D8"/>
            </a:solidFill>
            <a:prstDash val="solid"/>
          </a:ln>
        </p:spPr>
      </p:sp>
      <p:sp>
        <p:nvSpPr>
          <p:cNvPr id="5" name="Shape 3"/>
          <p:cNvSpPr/>
          <p:nvPr/>
        </p:nvSpPr>
        <p:spPr>
          <a:xfrm>
            <a:off x="1097280" y="3429000"/>
            <a:ext cx="640080" cy="640080"/>
          </a:xfrm>
          <a:prstGeom prst="ellipse">
            <a:avLst/>
          </a:prstGeom>
          <a:solidFill>
            <a:srgbClr val="FFF0E8"/>
          </a:solidFill>
          <a:ln/>
        </p:spPr>
      </p:sp>
      <p:pic>
        <p:nvPicPr>
          <p:cNvPr id="6" name="Image 0" descr="Time lost">    </p:cNvPr>
          <p:cNvPicPr>
            <a:picLocks noChangeAspect="1"/>
          </p:cNvPicPr>
          <p:nvPr/>
        </p:nvPicPr>
        <p:blipFill>
          <a:blip r:embed="rId1"/>
          <a:stretch>
            <a:fillRect/>
          </a:stretch>
        </p:blipFill>
        <p:spPr>
          <a:xfrm>
            <a:off x="1234440" y="3566160"/>
            <a:ext cx="365760" cy="365760"/>
          </a:xfrm>
          <a:prstGeom prst="rect">
            <a:avLst/>
          </a:prstGeom>
        </p:spPr>
      </p:pic>
      <p:sp>
        <p:nvSpPr>
          <p:cNvPr id="7" name="Text 4"/>
          <p:cNvSpPr txBox="1"/>
          <p:nvPr/>
        </p:nvSpPr>
        <p:spPr>
          <a:xfrm>
            <a:off x="1097280" y="4251960"/>
            <a:ext cx="2692298" cy="457200"/>
          </a:xfrm>
          <a:prstGeom prst="rect">
            <a:avLst/>
          </a:prstGeom>
          <a:noFill/>
          <a:ln/>
        </p:spPr>
        <p:txBody>
          <a:bodyPr wrap="square" lIns="0" tIns="0" rIns="0" bIns="0" rtlCol="0" anchor="t"/>
          <a:lstStyle/>
          <a:p>
            <a:pPr indent="0" marL="0">
              <a:buNone/>
            </a:pPr>
            <a:r>
              <a:rPr lang="en-US" sz="2200" b="1" dirty="0">
                <a:solidFill>
                  <a:srgbClr val="14131C"/>
                </a:solidFill>
                <a:latin typeface="Arial" pitchFamily="34" charset="0"/>
                <a:ea typeface="Arial" pitchFamily="34" charset="-122"/>
                <a:cs typeface="Arial" pitchFamily="34" charset="-120"/>
              </a:rPr>
              <a:t>Time lost</a:t>
            </a:r>
            <a:endParaRPr lang="en-US" sz="2200" dirty="0"/>
          </a:p>
        </p:txBody>
      </p:sp>
      <p:sp>
        <p:nvSpPr>
          <p:cNvPr id="8" name="Text 5"/>
          <p:cNvSpPr txBox="1"/>
          <p:nvPr/>
        </p:nvSpPr>
        <p:spPr>
          <a:xfrm>
            <a:off x="1097280" y="4754880"/>
            <a:ext cx="2692298" cy="822960"/>
          </a:xfrm>
          <a:prstGeom prst="rect">
            <a:avLst/>
          </a:prstGeom>
          <a:noFill/>
          <a:ln/>
        </p:spPr>
        <p:txBody>
          <a:bodyPr wrap="square" lIns="0" tIns="0" rIns="0" bIns="0" rtlCol="0" anchor="t"/>
          <a:lstStyle/>
          <a:p>
            <a:pPr indent="0" marL="0">
              <a:buNone/>
            </a:pPr>
            <a:r>
              <a:rPr lang="en-US" sz="1600" dirty="0">
                <a:solidFill>
                  <a:srgbClr val="4A4858"/>
                </a:solidFill>
                <a:latin typeface="Calibri" pitchFamily="34" charset="0"/>
                <a:ea typeface="Calibri" pitchFamily="34" charset="-122"/>
                <a:cs typeface="Calibri" pitchFamily="34" charset="-120"/>
              </a:rPr>
              <a:t>Searching street by street, with no idea what is free.</a:t>
            </a:r>
            <a:endParaRPr lang="en-US" sz="1600" dirty="0"/>
          </a:p>
        </p:txBody>
      </p:sp>
      <p:sp>
        <p:nvSpPr>
          <p:cNvPr id="9" name="Problem card 2"/>
          <p:cNvSpPr/>
          <p:nvPr/>
        </p:nvSpPr>
        <p:spPr>
          <a:xfrm>
            <a:off x="4429658" y="3108960"/>
            <a:ext cx="3332378" cy="2651760"/>
          </a:xfrm>
          <a:prstGeom prst="roundRect">
            <a:avLst>
              <a:gd name="adj" fmla="val 4138"/>
            </a:avLst>
          </a:prstGeom>
          <a:solidFill>
            <a:srgbClr val="FFFFFF"/>
          </a:solidFill>
          <a:ln w="12700">
            <a:solidFill>
              <a:srgbClr val="E4E0D8"/>
            </a:solidFill>
            <a:prstDash val="solid"/>
          </a:ln>
        </p:spPr>
      </p:sp>
      <p:sp>
        <p:nvSpPr>
          <p:cNvPr id="10" name="Shape 7"/>
          <p:cNvSpPr/>
          <p:nvPr/>
        </p:nvSpPr>
        <p:spPr>
          <a:xfrm>
            <a:off x="4749698" y="3429000"/>
            <a:ext cx="640080" cy="640080"/>
          </a:xfrm>
          <a:prstGeom prst="ellipse">
            <a:avLst/>
          </a:prstGeom>
          <a:solidFill>
            <a:srgbClr val="FFF0E8"/>
          </a:solidFill>
          <a:ln/>
        </p:spPr>
      </p:sp>
      <p:pic>
        <p:nvPicPr>
          <p:cNvPr id="11" name="Image 1" descr="Idle capacity">    </p:cNvPr>
          <p:cNvPicPr>
            <a:picLocks noChangeAspect="1"/>
          </p:cNvPicPr>
          <p:nvPr/>
        </p:nvPicPr>
        <p:blipFill>
          <a:blip r:embed="rId2"/>
          <a:stretch>
            <a:fillRect/>
          </a:stretch>
        </p:blipFill>
        <p:spPr>
          <a:xfrm>
            <a:off x="4886858" y="3566160"/>
            <a:ext cx="365760" cy="365760"/>
          </a:xfrm>
          <a:prstGeom prst="rect">
            <a:avLst/>
          </a:prstGeom>
        </p:spPr>
      </p:pic>
      <p:sp>
        <p:nvSpPr>
          <p:cNvPr id="12" name="Text 8"/>
          <p:cNvSpPr txBox="1"/>
          <p:nvPr/>
        </p:nvSpPr>
        <p:spPr>
          <a:xfrm>
            <a:off x="4749698" y="4251960"/>
            <a:ext cx="2692298" cy="457200"/>
          </a:xfrm>
          <a:prstGeom prst="rect">
            <a:avLst/>
          </a:prstGeom>
          <a:noFill/>
          <a:ln/>
        </p:spPr>
        <p:txBody>
          <a:bodyPr wrap="square" lIns="0" tIns="0" rIns="0" bIns="0" rtlCol="0" anchor="t"/>
          <a:lstStyle/>
          <a:p>
            <a:pPr indent="0" marL="0">
              <a:buNone/>
            </a:pPr>
            <a:r>
              <a:rPr lang="en-US" sz="2200" b="1" dirty="0">
                <a:solidFill>
                  <a:srgbClr val="14131C"/>
                </a:solidFill>
                <a:latin typeface="Arial" pitchFamily="34" charset="0"/>
                <a:ea typeface="Arial" pitchFamily="34" charset="-122"/>
                <a:cs typeface="Arial" pitchFamily="34" charset="-120"/>
              </a:rPr>
              <a:t>Idle capacity</a:t>
            </a:r>
            <a:endParaRPr lang="en-US" sz="2200" dirty="0"/>
          </a:p>
        </p:txBody>
      </p:sp>
      <p:sp>
        <p:nvSpPr>
          <p:cNvPr id="13" name="Text 9"/>
          <p:cNvSpPr txBox="1"/>
          <p:nvPr/>
        </p:nvSpPr>
        <p:spPr>
          <a:xfrm>
            <a:off x="4749698" y="4754880"/>
            <a:ext cx="2692298" cy="822960"/>
          </a:xfrm>
          <a:prstGeom prst="rect">
            <a:avLst/>
          </a:prstGeom>
          <a:noFill/>
          <a:ln/>
        </p:spPr>
        <p:txBody>
          <a:bodyPr wrap="square" lIns="0" tIns="0" rIns="0" bIns="0" rtlCol="0" anchor="t"/>
          <a:lstStyle/>
          <a:p>
            <a:pPr indent="0" marL="0">
              <a:buNone/>
            </a:pPr>
            <a:r>
              <a:rPr lang="en-US" sz="1600" dirty="0">
                <a:solidFill>
                  <a:srgbClr val="4A4858"/>
                </a:solidFill>
                <a:latin typeface="Calibri" pitchFamily="34" charset="0"/>
                <a:ea typeface="Calibri" pitchFamily="34" charset="-122"/>
                <a:cs typeface="Calibri" pitchFamily="34" charset="-120"/>
              </a:rPr>
              <a:t>Homes, shops and offices have bays empty for hours.</a:t>
            </a:r>
            <a:endParaRPr lang="en-US" sz="1600" dirty="0"/>
          </a:p>
        </p:txBody>
      </p:sp>
      <p:sp>
        <p:nvSpPr>
          <p:cNvPr id="14" name="Problem card 3"/>
          <p:cNvSpPr/>
          <p:nvPr/>
        </p:nvSpPr>
        <p:spPr>
          <a:xfrm>
            <a:off x="8082077" y="3108960"/>
            <a:ext cx="3332378" cy="2651760"/>
          </a:xfrm>
          <a:prstGeom prst="roundRect">
            <a:avLst>
              <a:gd name="adj" fmla="val 4138"/>
            </a:avLst>
          </a:prstGeom>
          <a:solidFill>
            <a:srgbClr val="FFFFFF"/>
          </a:solidFill>
          <a:ln w="12700">
            <a:solidFill>
              <a:srgbClr val="E4E0D8"/>
            </a:solidFill>
            <a:prstDash val="solid"/>
          </a:ln>
        </p:spPr>
      </p:sp>
      <p:sp>
        <p:nvSpPr>
          <p:cNvPr id="15" name="Shape 11"/>
          <p:cNvSpPr/>
          <p:nvPr/>
        </p:nvSpPr>
        <p:spPr>
          <a:xfrm>
            <a:off x="8402117" y="3429000"/>
            <a:ext cx="640080" cy="640080"/>
          </a:xfrm>
          <a:prstGeom prst="ellipse">
            <a:avLst/>
          </a:prstGeom>
          <a:solidFill>
            <a:srgbClr val="FFF0E8"/>
          </a:solidFill>
          <a:ln/>
        </p:spPr>
      </p:sp>
      <p:pic>
        <p:nvPicPr>
          <p:cNvPr id="16" name="Image 2" descr="No trust layer">    </p:cNvPr>
          <p:cNvPicPr>
            <a:picLocks noChangeAspect="1"/>
          </p:cNvPicPr>
          <p:nvPr/>
        </p:nvPicPr>
        <p:blipFill>
          <a:blip r:embed="rId3"/>
          <a:stretch>
            <a:fillRect/>
          </a:stretch>
        </p:blipFill>
        <p:spPr>
          <a:xfrm>
            <a:off x="8539277" y="3566160"/>
            <a:ext cx="365760" cy="365760"/>
          </a:xfrm>
          <a:prstGeom prst="rect">
            <a:avLst/>
          </a:prstGeom>
        </p:spPr>
      </p:pic>
      <p:sp>
        <p:nvSpPr>
          <p:cNvPr id="17" name="Text 12"/>
          <p:cNvSpPr txBox="1"/>
          <p:nvPr/>
        </p:nvSpPr>
        <p:spPr>
          <a:xfrm>
            <a:off x="8402117" y="4251960"/>
            <a:ext cx="2692298" cy="457200"/>
          </a:xfrm>
          <a:prstGeom prst="rect">
            <a:avLst/>
          </a:prstGeom>
          <a:noFill/>
          <a:ln/>
        </p:spPr>
        <p:txBody>
          <a:bodyPr wrap="square" lIns="0" tIns="0" rIns="0" bIns="0" rtlCol="0" anchor="t"/>
          <a:lstStyle/>
          <a:p>
            <a:pPr indent="0" marL="0">
              <a:buNone/>
            </a:pPr>
            <a:r>
              <a:rPr lang="en-US" sz="2200" b="1" dirty="0">
                <a:solidFill>
                  <a:srgbClr val="14131C"/>
                </a:solidFill>
                <a:latin typeface="Arial" pitchFamily="34" charset="0"/>
                <a:ea typeface="Arial" pitchFamily="34" charset="-122"/>
                <a:cs typeface="Arial" pitchFamily="34" charset="-120"/>
              </a:rPr>
              <a:t>No trust layer</a:t>
            </a:r>
            <a:endParaRPr lang="en-US" sz="2200" dirty="0"/>
          </a:p>
        </p:txBody>
      </p:sp>
      <p:sp>
        <p:nvSpPr>
          <p:cNvPr id="18" name="Text 13"/>
          <p:cNvSpPr txBox="1"/>
          <p:nvPr/>
        </p:nvSpPr>
        <p:spPr>
          <a:xfrm>
            <a:off x="8402117" y="4754880"/>
            <a:ext cx="2692298" cy="822960"/>
          </a:xfrm>
          <a:prstGeom prst="rect">
            <a:avLst/>
          </a:prstGeom>
          <a:noFill/>
          <a:ln/>
        </p:spPr>
        <p:txBody>
          <a:bodyPr wrap="square" lIns="0" tIns="0" rIns="0" bIns="0" rtlCol="0" anchor="t"/>
          <a:lstStyle/>
          <a:p>
            <a:pPr indent="0" marL="0">
              <a:buNone/>
            </a:pPr>
            <a:r>
              <a:rPr lang="en-US" sz="1600" dirty="0">
                <a:solidFill>
                  <a:srgbClr val="4A4858"/>
                </a:solidFill>
                <a:latin typeface="Calibri" pitchFamily="34" charset="0"/>
                <a:ea typeface="Calibri" pitchFamily="34" charset="-122"/>
                <a:cs typeface="Calibri" pitchFamily="34" charset="-120"/>
              </a:rPr>
              <a:t>Owners won't open their gate to strangers without safety.</a:t>
            </a:r>
            <a:endParaRPr lang="en-US" sz="1600" dirty="0"/>
          </a:p>
        </p:txBody>
      </p:sp>
      <p:sp>
        <p:nvSpPr>
          <p:cNvPr id="25" name="Slide Number Placeholder 0"/>
          <p:cNvSpPr>
            <a:spLocks noGrp="1"/>
          </p:cNvSpPr>
          <p:nvPr>
            <p:ph type="sldNum" sz="quarter" idx="4294967295"/>
          </p:nvPr>
        </p:nvSpPr>
        <p:spPr>
          <a:xfrm>
            <a:off x="108658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C84A1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777240" y="640080"/>
            <a:ext cx="10637215" cy="365760"/>
          </a:xfrm>
          <a:prstGeom prst="rect">
            <a:avLst/>
          </a:prstGeom>
          <a:noFill/>
          <a:ln/>
        </p:spPr>
        <p:txBody>
          <a:bodyPr wrap="square" lIns="0" tIns="0" rIns="0" bIns="0" rtlCol="0" anchor="t"/>
          <a:lstStyle/>
          <a:p>
            <a:pPr algn="l" indent="0" marL="0">
              <a:buNone/>
            </a:pPr>
            <a:r>
              <a:rPr lang="en-US" sz="1400" b="1" spc="300" kern="0" dirty="0">
                <a:solidFill>
                  <a:srgbClr val="FF8A57"/>
                </a:solidFill>
              </a:rPr>
              <a:t>THE SOLUTION</a:t>
            </a:r>
            <a:endParaRPr lang="en-US" sz="1400" dirty="0"/>
          </a:p>
        </p:txBody>
      </p:sp>
      <p:sp>
        <p:nvSpPr>
          <p:cNvPr id="3" name="Text 0"/>
          <p:cNvSpPr/>
          <p:nvPr>
            <p:ph idx="101" type="title" hasCustomPrompt="1"/>
          </p:nvPr>
        </p:nvSpPr>
        <p:spPr>
          <a:xfrm>
            <a:off x="777240" y="1005840"/>
            <a:ext cx="10637215" cy="1371600"/>
          </a:xfrm>
          <a:prstGeom prst="rect">
            <a:avLst/>
          </a:prstGeom>
          <a:noFill/>
          <a:ln/>
        </p:spPr>
        <p:txBody>
          <a:bodyPr wrap="square" lIns="0" tIns="0" rIns="0" bIns="0" rtlCol="0" anchor="t"/>
          <a:lstStyle/>
          <a:p>
            <a:pPr algn="l" indent="0" marL="0">
              <a:buNone/>
            </a:pPr>
            <a:r>
              <a:rPr lang="en-US" sz="4000" b="1" dirty="0">
                <a:solidFill>
                  <a:srgbClr val="F7F5F0"/>
                </a:solidFill>
                <a:latin typeface="Arial" pitchFamily="34" charset="0"/>
                <a:ea typeface="Arial" pitchFamily="34" charset="-122"/>
                <a:cs typeface="Arial" pitchFamily="34" charset="-120"/>
              </a:rPr>
              <a:t>One app, two sides of the same parking spot</a:t>
            </a:r>
            <a:endParaRPr lang="en-US" sz="4000" dirty="0"/>
          </a:p>
        </p:txBody>
      </p:sp>
      <p:sp>
        <p:nvSpPr>
          <p:cNvPr id="4" name="Side card 1"/>
          <p:cNvSpPr/>
          <p:nvPr/>
        </p:nvSpPr>
        <p:spPr>
          <a:xfrm>
            <a:off x="777240" y="2743200"/>
            <a:ext cx="5135728" cy="3108960"/>
          </a:xfrm>
          <a:prstGeom prst="roundRect">
            <a:avLst>
              <a:gd name="adj" fmla="val 3529"/>
            </a:avLst>
          </a:prstGeom>
          <a:solidFill>
            <a:srgbClr val="1A1A26"/>
          </a:solidFill>
          <a:ln w="12700">
            <a:solidFill>
              <a:srgbClr val="2E2D3D"/>
            </a:solidFill>
            <a:prstDash val="solid"/>
          </a:ln>
        </p:spPr>
      </p:sp>
      <p:sp>
        <p:nvSpPr>
          <p:cNvPr id="5" name="Shape 3"/>
          <p:cNvSpPr/>
          <p:nvPr/>
        </p:nvSpPr>
        <p:spPr>
          <a:xfrm>
            <a:off x="1143000" y="3108960"/>
            <a:ext cx="640080" cy="640080"/>
          </a:xfrm>
          <a:prstGeom prst="ellipse">
            <a:avLst/>
          </a:prstGeom>
          <a:solidFill>
            <a:srgbClr val="FF6B2C"/>
          </a:solidFill>
          <a:ln/>
        </p:spPr>
      </p:sp>
      <p:pic>
        <p:nvPicPr>
          <p:cNvPr id="6" name="Image 0" descr="FOR DRIVERS">    </p:cNvPr>
          <p:cNvPicPr>
            <a:picLocks noChangeAspect="1"/>
          </p:cNvPicPr>
          <p:nvPr/>
        </p:nvPicPr>
        <p:blipFill>
          <a:blip r:embed="rId1"/>
          <a:stretch>
            <a:fillRect/>
          </a:stretch>
        </p:blipFill>
        <p:spPr>
          <a:xfrm>
            <a:off x="1280160" y="3246120"/>
            <a:ext cx="365760" cy="365760"/>
          </a:xfrm>
          <a:prstGeom prst="rect">
            <a:avLst/>
          </a:prstGeom>
        </p:spPr>
      </p:pic>
      <p:sp>
        <p:nvSpPr>
          <p:cNvPr id="7" name="Text 4"/>
          <p:cNvSpPr txBox="1"/>
          <p:nvPr/>
        </p:nvSpPr>
        <p:spPr>
          <a:xfrm>
            <a:off x="1965960" y="3246120"/>
            <a:ext cx="3581248" cy="365760"/>
          </a:xfrm>
          <a:prstGeom prst="rect">
            <a:avLst/>
          </a:prstGeom>
          <a:noFill/>
          <a:ln/>
        </p:spPr>
        <p:txBody>
          <a:bodyPr wrap="square" lIns="0" tIns="0" rIns="0" bIns="0" rtlCol="0" anchor="t"/>
          <a:lstStyle/>
          <a:p>
            <a:pPr indent="0" marL="0">
              <a:buNone/>
            </a:pPr>
            <a:r>
              <a:rPr lang="en-US" sz="1400" b="1" spc="300" kern="0" dirty="0">
                <a:solidFill>
                  <a:srgbClr val="FF8A57"/>
                </a:solidFill>
                <a:latin typeface="Calibri" pitchFamily="34" charset="0"/>
                <a:ea typeface="Calibri" pitchFamily="34" charset="-122"/>
                <a:cs typeface="Calibri" pitchFamily="34" charset="-120"/>
              </a:rPr>
              <a:t>FOR DRIVERS</a:t>
            </a:r>
            <a:endParaRPr lang="en-US" sz="1400" dirty="0"/>
          </a:p>
        </p:txBody>
      </p:sp>
      <p:sp>
        <p:nvSpPr>
          <p:cNvPr id="8" name="Text 5"/>
          <p:cNvSpPr txBox="1"/>
          <p:nvPr/>
        </p:nvSpPr>
        <p:spPr>
          <a:xfrm>
            <a:off x="1143000" y="3931920"/>
            <a:ext cx="4404208" cy="868680"/>
          </a:xfrm>
          <a:prstGeom prst="rect">
            <a:avLst/>
          </a:prstGeom>
          <a:noFill/>
          <a:ln/>
        </p:spPr>
        <p:txBody>
          <a:bodyPr wrap="square" lIns="0" tIns="0" rIns="0" bIns="0" rtlCol="0" anchor="t"/>
          <a:lstStyle/>
          <a:p>
            <a:pPr indent="0" marL="0">
              <a:buNone/>
            </a:pPr>
            <a:r>
              <a:rPr lang="en-US" sz="2400" b="1" dirty="0">
                <a:solidFill>
                  <a:srgbClr val="F7F5F0"/>
                </a:solidFill>
                <a:latin typeface="Arial" pitchFamily="34" charset="0"/>
                <a:ea typeface="Arial" pitchFamily="34" charset="-122"/>
                <a:cs typeface="Arial" pitchFamily="34" charset="-120"/>
              </a:rPr>
              <a:t>Find, book and pay in seconds</a:t>
            </a:r>
            <a:endParaRPr lang="en-US" sz="2400" dirty="0"/>
          </a:p>
        </p:txBody>
      </p:sp>
      <p:sp>
        <p:nvSpPr>
          <p:cNvPr id="9" name="Text 6"/>
          <p:cNvSpPr txBox="1"/>
          <p:nvPr/>
        </p:nvSpPr>
        <p:spPr>
          <a:xfrm>
            <a:off x="1143000" y="4846320"/>
            <a:ext cx="4404208" cy="914400"/>
          </a:xfrm>
          <a:prstGeom prst="rect">
            <a:avLst/>
          </a:prstGeom>
          <a:noFill/>
          <a:ln/>
        </p:spPr>
        <p:txBody>
          <a:bodyPr wrap="square" lIns="0" tIns="0" rIns="0" bIns="0" rtlCol="0" anchor="t"/>
          <a:lstStyle/>
          <a:p>
            <a:pPr indent="0" marL="0">
              <a:buNone/>
            </a:pPr>
            <a:r>
              <a:rPr lang="en-US" sz="1600" dirty="0">
                <a:solidFill>
                  <a:srgbClr val="B9B6C4"/>
                </a:solidFill>
                <a:latin typeface="Calibri" pitchFamily="34" charset="0"/>
                <a:ea typeface="Calibri" pitchFamily="34" charset="-122"/>
                <a:cs typeface="Calibri" pitchFamily="34" charset="-120"/>
              </a:rPr>
              <a:t>Live map of nearby spots with price and availability, turn-by-turn navigation, UPI payment and an OTP to check in.</a:t>
            </a:r>
            <a:endParaRPr lang="en-US" sz="1600" dirty="0"/>
          </a:p>
        </p:txBody>
      </p:sp>
      <p:sp>
        <p:nvSpPr>
          <p:cNvPr id="10" name="Side card 2"/>
          <p:cNvSpPr/>
          <p:nvPr/>
        </p:nvSpPr>
        <p:spPr>
          <a:xfrm>
            <a:off x="6278728" y="2743200"/>
            <a:ext cx="5135728" cy="3108960"/>
          </a:xfrm>
          <a:prstGeom prst="roundRect">
            <a:avLst>
              <a:gd name="adj" fmla="val 3529"/>
            </a:avLst>
          </a:prstGeom>
          <a:solidFill>
            <a:srgbClr val="1A1A26"/>
          </a:solidFill>
          <a:ln w="12700">
            <a:solidFill>
              <a:srgbClr val="2E2D3D"/>
            </a:solidFill>
            <a:prstDash val="solid"/>
          </a:ln>
        </p:spPr>
      </p:sp>
      <p:sp>
        <p:nvSpPr>
          <p:cNvPr id="11" name="Shape 8"/>
          <p:cNvSpPr/>
          <p:nvPr/>
        </p:nvSpPr>
        <p:spPr>
          <a:xfrm>
            <a:off x="6644488" y="3108960"/>
            <a:ext cx="640080" cy="640080"/>
          </a:xfrm>
          <a:prstGeom prst="ellipse">
            <a:avLst/>
          </a:prstGeom>
          <a:solidFill>
            <a:srgbClr val="FF6B2C"/>
          </a:solidFill>
          <a:ln/>
        </p:spPr>
      </p:sp>
      <p:pic>
        <p:nvPicPr>
          <p:cNvPr id="12" name="Image 1" descr="FOR SPOT OWNERS">    </p:cNvPr>
          <p:cNvPicPr>
            <a:picLocks noChangeAspect="1"/>
          </p:cNvPicPr>
          <p:nvPr/>
        </p:nvPicPr>
        <p:blipFill>
          <a:blip r:embed="rId2"/>
          <a:stretch>
            <a:fillRect/>
          </a:stretch>
        </p:blipFill>
        <p:spPr>
          <a:xfrm>
            <a:off x="6781648" y="3246120"/>
            <a:ext cx="365760" cy="365760"/>
          </a:xfrm>
          <a:prstGeom prst="rect">
            <a:avLst/>
          </a:prstGeom>
        </p:spPr>
      </p:pic>
      <p:sp>
        <p:nvSpPr>
          <p:cNvPr id="13" name="Text 9"/>
          <p:cNvSpPr txBox="1"/>
          <p:nvPr/>
        </p:nvSpPr>
        <p:spPr>
          <a:xfrm>
            <a:off x="7467448" y="3246120"/>
            <a:ext cx="3581248" cy="365760"/>
          </a:xfrm>
          <a:prstGeom prst="rect">
            <a:avLst/>
          </a:prstGeom>
          <a:noFill/>
          <a:ln/>
        </p:spPr>
        <p:txBody>
          <a:bodyPr wrap="square" lIns="0" tIns="0" rIns="0" bIns="0" rtlCol="0" anchor="t"/>
          <a:lstStyle/>
          <a:p>
            <a:pPr indent="0" marL="0">
              <a:buNone/>
            </a:pPr>
            <a:r>
              <a:rPr lang="en-US" sz="1400" b="1" spc="300" kern="0" dirty="0">
                <a:solidFill>
                  <a:srgbClr val="FF8A57"/>
                </a:solidFill>
                <a:latin typeface="Calibri" pitchFamily="34" charset="0"/>
                <a:ea typeface="Calibri" pitchFamily="34" charset="-122"/>
                <a:cs typeface="Calibri" pitchFamily="34" charset="-120"/>
              </a:rPr>
              <a:t>FOR SPOT OWNERS</a:t>
            </a:r>
            <a:endParaRPr lang="en-US" sz="1400" dirty="0"/>
          </a:p>
        </p:txBody>
      </p:sp>
      <p:sp>
        <p:nvSpPr>
          <p:cNvPr id="14" name="Text 10"/>
          <p:cNvSpPr txBox="1"/>
          <p:nvPr/>
        </p:nvSpPr>
        <p:spPr>
          <a:xfrm>
            <a:off x="6644488" y="3931920"/>
            <a:ext cx="4404208" cy="868680"/>
          </a:xfrm>
          <a:prstGeom prst="rect">
            <a:avLst/>
          </a:prstGeom>
          <a:noFill/>
          <a:ln/>
        </p:spPr>
        <p:txBody>
          <a:bodyPr wrap="square" lIns="0" tIns="0" rIns="0" bIns="0" rtlCol="0" anchor="t"/>
          <a:lstStyle/>
          <a:p>
            <a:pPr indent="0" marL="0">
              <a:buNone/>
            </a:pPr>
            <a:r>
              <a:rPr lang="en-US" sz="2400" b="1" dirty="0">
                <a:solidFill>
                  <a:srgbClr val="F7F5F0"/>
                </a:solidFill>
                <a:latin typeface="Arial" pitchFamily="34" charset="0"/>
                <a:ea typeface="Arial" pitchFamily="34" charset="-122"/>
                <a:cs typeface="Arial" pitchFamily="34" charset="-120"/>
              </a:rPr>
              <a:t>Earn from space you already have</a:t>
            </a:r>
            <a:endParaRPr lang="en-US" sz="2400" dirty="0"/>
          </a:p>
        </p:txBody>
      </p:sp>
      <p:sp>
        <p:nvSpPr>
          <p:cNvPr id="15" name="Text 11"/>
          <p:cNvSpPr txBox="1"/>
          <p:nvPr/>
        </p:nvSpPr>
        <p:spPr>
          <a:xfrm>
            <a:off x="6644488" y="4846320"/>
            <a:ext cx="4404208" cy="914400"/>
          </a:xfrm>
          <a:prstGeom prst="rect">
            <a:avLst/>
          </a:prstGeom>
          <a:noFill/>
          <a:ln/>
        </p:spPr>
        <p:txBody>
          <a:bodyPr wrap="square" lIns="0" tIns="0" rIns="0" bIns="0" rtlCol="0" anchor="t"/>
          <a:lstStyle/>
          <a:p>
            <a:pPr indent="0" marL="0">
              <a:buNone/>
            </a:pPr>
            <a:r>
              <a:rPr lang="en-US" sz="1600" dirty="0">
                <a:solidFill>
                  <a:srgbClr val="B9B6C4"/>
                </a:solidFill>
                <a:latin typeface="Calibri" pitchFamily="34" charset="0"/>
                <a:ea typeface="Calibri" pitchFamily="34" charset="-122"/>
                <a:cs typeface="Calibri" pitchFamily="34" charset="-120"/>
              </a:rPr>
              <a:t>List a driveway or bay, set hours and slots, get booking alerts, verify each driver and track earnings.</a:t>
            </a:r>
            <a:endParaRPr lang="en-US" sz="1600" dirty="0"/>
          </a:p>
        </p:txBody>
      </p:sp>
      <p:sp>
        <p:nvSpPr>
          <p:cNvPr id="25" name="Slide Number Placeholder 0"/>
          <p:cNvSpPr>
            <a:spLocks noGrp="1"/>
          </p:cNvSpPr>
          <p:nvPr>
            <p:ph type="sldNum" sz="quarter" idx="4294967295"/>
          </p:nvPr>
        </p:nvSpPr>
        <p:spPr>
          <a:xfrm>
            <a:off x="108658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8A57"/>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777240" y="640080"/>
            <a:ext cx="10637215" cy="365760"/>
          </a:xfrm>
          <a:prstGeom prst="rect">
            <a:avLst/>
          </a:prstGeom>
          <a:noFill/>
          <a:ln/>
        </p:spPr>
        <p:txBody>
          <a:bodyPr wrap="square" lIns="0" tIns="0" rIns="0" bIns="0" rtlCol="0" anchor="t"/>
          <a:lstStyle/>
          <a:p>
            <a:pPr algn="l" indent="0" marL="0">
              <a:buNone/>
            </a:pPr>
            <a:r>
              <a:rPr lang="en-US" sz="1400" b="1" spc="300" kern="0" dirty="0">
                <a:solidFill>
                  <a:srgbClr val="C84A12"/>
                </a:solidFill>
              </a:rPr>
              <a:t>HOW IT WORKS</a:t>
            </a:r>
            <a:endParaRPr lang="en-US" sz="1400" dirty="0"/>
          </a:p>
        </p:txBody>
      </p:sp>
      <p:sp>
        <p:nvSpPr>
          <p:cNvPr id="3" name="Text 0"/>
          <p:cNvSpPr/>
          <p:nvPr>
            <p:ph idx="101" type="title" hasCustomPrompt="1"/>
          </p:nvPr>
        </p:nvSpPr>
        <p:spPr>
          <a:xfrm>
            <a:off x="777240" y="1005840"/>
            <a:ext cx="10637215" cy="1371600"/>
          </a:xfrm>
          <a:prstGeom prst="rect">
            <a:avLst/>
          </a:prstGeom>
          <a:noFill/>
          <a:ln/>
        </p:spPr>
        <p:txBody>
          <a:bodyPr wrap="square" lIns="0" tIns="0" rIns="0" bIns="0" rtlCol="0" anchor="t"/>
          <a:lstStyle/>
          <a:p>
            <a:pPr algn="l" indent="0" marL="0">
              <a:buNone/>
            </a:pPr>
            <a:r>
              <a:rPr lang="en-US" sz="4000" b="1" dirty="0">
                <a:solidFill>
                  <a:srgbClr val="14131C"/>
                </a:solidFill>
                <a:latin typeface="Arial" pitchFamily="34" charset="0"/>
                <a:ea typeface="Arial" pitchFamily="34" charset="-122"/>
                <a:cs typeface="Arial" pitchFamily="34" charset="-120"/>
              </a:rPr>
              <a:t>A booking, end to end</a:t>
            </a:r>
            <a:endParaRPr lang="en-US" sz="4000" dirty="0"/>
          </a:p>
        </p:txBody>
      </p:sp>
      <p:sp>
        <p:nvSpPr>
          <p:cNvPr id="4" name="Step 1"/>
          <p:cNvSpPr/>
          <p:nvPr/>
        </p:nvSpPr>
        <p:spPr>
          <a:xfrm>
            <a:off x="777240" y="2743200"/>
            <a:ext cx="2350694" cy="2834640"/>
          </a:xfrm>
          <a:prstGeom prst="roundRect">
            <a:avLst>
              <a:gd name="adj" fmla="val 4668"/>
            </a:avLst>
          </a:prstGeom>
          <a:solidFill>
            <a:srgbClr val="FFFFFF"/>
          </a:solidFill>
          <a:ln w="12700">
            <a:solidFill>
              <a:srgbClr val="E4E0D8"/>
            </a:solidFill>
            <a:prstDash val="solid"/>
          </a:ln>
        </p:spPr>
      </p:sp>
      <p:sp>
        <p:nvSpPr>
          <p:cNvPr id="5" name="Text 3"/>
          <p:cNvSpPr txBox="1"/>
          <p:nvPr/>
        </p:nvSpPr>
        <p:spPr>
          <a:xfrm>
            <a:off x="1051560" y="3017520"/>
            <a:ext cx="1802054" cy="640080"/>
          </a:xfrm>
          <a:prstGeom prst="rect">
            <a:avLst/>
          </a:prstGeom>
          <a:noFill/>
          <a:ln/>
        </p:spPr>
        <p:txBody>
          <a:bodyPr wrap="square" lIns="0" tIns="0" rIns="0" bIns="0" rtlCol="0" anchor="t"/>
          <a:lstStyle/>
          <a:p>
            <a:pPr indent="0" marL="0">
              <a:buNone/>
            </a:pPr>
            <a:r>
              <a:rPr lang="en-US" sz="3200" b="1" dirty="0">
                <a:solidFill>
                  <a:srgbClr val="FF6B2C"/>
                </a:solidFill>
                <a:latin typeface="Arial" pitchFamily="34" charset="0"/>
                <a:ea typeface="Arial" pitchFamily="34" charset="-122"/>
                <a:cs typeface="Arial" pitchFamily="34" charset="-120"/>
              </a:rPr>
              <a:t>01</a:t>
            </a:r>
            <a:endParaRPr lang="en-US" sz="3200" dirty="0"/>
          </a:p>
        </p:txBody>
      </p:sp>
      <p:sp>
        <p:nvSpPr>
          <p:cNvPr id="6" name="Text 4"/>
          <p:cNvSpPr txBox="1"/>
          <p:nvPr/>
        </p:nvSpPr>
        <p:spPr>
          <a:xfrm>
            <a:off x="1051560" y="3749040"/>
            <a:ext cx="1802054" cy="457200"/>
          </a:xfrm>
          <a:prstGeom prst="rect">
            <a:avLst/>
          </a:prstGeom>
          <a:noFill/>
          <a:ln/>
        </p:spPr>
        <p:txBody>
          <a:bodyPr wrap="square" lIns="0" tIns="0" rIns="0" bIns="0" rtlCol="0" anchor="t"/>
          <a:lstStyle/>
          <a:p>
            <a:pPr indent="0" marL="0">
              <a:buNone/>
            </a:pPr>
            <a:r>
              <a:rPr lang="en-US" sz="2000" b="1" dirty="0">
                <a:solidFill>
                  <a:srgbClr val="14131C"/>
                </a:solidFill>
                <a:latin typeface="Arial" pitchFamily="34" charset="0"/>
                <a:ea typeface="Arial" pitchFamily="34" charset="-122"/>
                <a:cs typeface="Arial" pitchFamily="34" charset="-120"/>
              </a:rPr>
              <a:t>Find</a:t>
            </a:r>
            <a:endParaRPr lang="en-US" sz="2000" dirty="0"/>
          </a:p>
        </p:txBody>
      </p:sp>
      <p:sp>
        <p:nvSpPr>
          <p:cNvPr id="7" name="Text 5"/>
          <p:cNvSpPr txBox="1"/>
          <p:nvPr/>
        </p:nvSpPr>
        <p:spPr>
          <a:xfrm>
            <a:off x="1051560" y="4251960"/>
            <a:ext cx="1802054" cy="1097280"/>
          </a:xfrm>
          <a:prstGeom prst="rect">
            <a:avLst/>
          </a:prstGeom>
          <a:noFill/>
          <a:ln/>
        </p:spPr>
        <p:txBody>
          <a:bodyPr wrap="square" lIns="0" tIns="0" rIns="0" bIns="0" rtlCol="0" anchor="t"/>
          <a:lstStyle/>
          <a:p>
            <a:pPr indent="0" marL="0">
              <a:buNone/>
            </a:pPr>
            <a:r>
              <a:rPr lang="en-US" sz="1500" dirty="0">
                <a:solidFill>
                  <a:srgbClr val="4A4858"/>
                </a:solidFill>
                <a:latin typeface="Calibri" pitchFamily="34" charset="0"/>
                <a:ea typeface="Calibri" pitchFamily="34" charset="-122"/>
                <a:cs typeface="Calibri" pitchFamily="34" charset="-120"/>
              </a:rPr>
              <a:t>Nearby verified spots, live price and free slots.</a:t>
            </a:r>
            <a:endParaRPr lang="en-US" sz="1500" dirty="0"/>
          </a:p>
        </p:txBody>
      </p:sp>
      <p:sp>
        <p:nvSpPr>
          <p:cNvPr id="8" name="Arrow 1"/>
          <p:cNvSpPr/>
          <p:nvPr/>
        </p:nvSpPr>
        <p:spPr>
          <a:xfrm>
            <a:off x="3191942" y="4023360"/>
            <a:ext cx="283464" cy="274320"/>
          </a:xfrm>
          <a:prstGeom prst="rightArrow">
            <a:avLst/>
          </a:prstGeom>
          <a:solidFill>
            <a:srgbClr val="FF6B2C"/>
          </a:solidFill>
          <a:ln/>
        </p:spPr>
      </p:sp>
      <p:sp>
        <p:nvSpPr>
          <p:cNvPr id="9" name="Step 2"/>
          <p:cNvSpPr/>
          <p:nvPr/>
        </p:nvSpPr>
        <p:spPr>
          <a:xfrm>
            <a:off x="3539414" y="2743200"/>
            <a:ext cx="2350694" cy="2834640"/>
          </a:xfrm>
          <a:prstGeom prst="roundRect">
            <a:avLst>
              <a:gd name="adj" fmla="val 4668"/>
            </a:avLst>
          </a:prstGeom>
          <a:solidFill>
            <a:srgbClr val="FFFFFF"/>
          </a:solidFill>
          <a:ln w="12700">
            <a:solidFill>
              <a:srgbClr val="E4E0D8"/>
            </a:solidFill>
            <a:prstDash val="solid"/>
          </a:ln>
        </p:spPr>
      </p:sp>
      <p:sp>
        <p:nvSpPr>
          <p:cNvPr id="10" name="Text 8"/>
          <p:cNvSpPr txBox="1"/>
          <p:nvPr/>
        </p:nvSpPr>
        <p:spPr>
          <a:xfrm>
            <a:off x="3813734" y="3017520"/>
            <a:ext cx="1802054" cy="640080"/>
          </a:xfrm>
          <a:prstGeom prst="rect">
            <a:avLst/>
          </a:prstGeom>
          <a:noFill/>
          <a:ln/>
        </p:spPr>
        <p:txBody>
          <a:bodyPr wrap="square" lIns="0" tIns="0" rIns="0" bIns="0" rtlCol="0" anchor="t"/>
          <a:lstStyle/>
          <a:p>
            <a:pPr indent="0" marL="0">
              <a:buNone/>
            </a:pPr>
            <a:r>
              <a:rPr lang="en-US" sz="3200" b="1" dirty="0">
                <a:solidFill>
                  <a:srgbClr val="FF6B2C"/>
                </a:solidFill>
                <a:latin typeface="Arial" pitchFamily="34" charset="0"/>
                <a:ea typeface="Arial" pitchFamily="34" charset="-122"/>
                <a:cs typeface="Arial" pitchFamily="34" charset="-120"/>
              </a:rPr>
              <a:t>02</a:t>
            </a:r>
            <a:endParaRPr lang="en-US" sz="3200" dirty="0"/>
          </a:p>
        </p:txBody>
      </p:sp>
      <p:sp>
        <p:nvSpPr>
          <p:cNvPr id="11" name="Text 9"/>
          <p:cNvSpPr txBox="1"/>
          <p:nvPr/>
        </p:nvSpPr>
        <p:spPr>
          <a:xfrm>
            <a:off x="3813734" y="3749040"/>
            <a:ext cx="1802054" cy="457200"/>
          </a:xfrm>
          <a:prstGeom prst="rect">
            <a:avLst/>
          </a:prstGeom>
          <a:noFill/>
          <a:ln/>
        </p:spPr>
        <p:txBody>
          <a:bodyPr wrap="square" lIns="0" tIns="0" rIns="0" bIns="0" rtlCol="0" anchor="t"/>
          <a:lstStyle/>
          <a:p>
            <a:pPr indent="0" marL="0">
              <a:buNone/>
            </a:pPr>
            <a:r>
              <a:rPr lang="en-US" sz="2000" b="1" dirty="0">
                <a:solidFill>
                  <a:srgbClr val="14131C"/>
                </a:solidFill>
                <a:latin typeface="Arial" pitchFamily="34" charset="0"/>
                <a:ea typeface="Arial" pitchFamily="34" charset="-122"/>
                <a:cs typeface="Arial" pitchFamily="34" charset="-120"/>
              </a:rPr>
              <a:t>Book &amp; pay</a:t>
            </a:r>
            <a:endParaRPr lang="en-US" sz="2000" dirty="0"/>
          </a:p>
        </p:txBody>
      </p:sp>
      <p:sp>
        <p:nvSpPr>
          <p:cNvPr id="12" name="Text 10"/>
          <p:cNvSpPr txBox="1"/>
          <p:nvPr/>
        </p:nvSpPr>
        <p:spPr>
          <a:xfrm>
            <a:off x="3813734" y="4251960"/>
            <a:ext cx="1802054" cy="1097280"/>
          </a:xfrm>
          <a:prstGeom prst="rect">
            <a:avLst/>
          </a:prstGeom>
          <a:noFill/>
          <a:ln/>
        </p:spPr>
        <p:txBody>
          <a:bodyPr wrap="square" lIns="0" tIns="0" rIns="0" bIns="0" rtlCol="0" anchor="t"/>
          <a:lstStyle/>
          <a:p>
            <a:pPr indent="0" marL="0">
              <a:buNone/>
            </a:pPr>
            <a:r>
              <a:rPr lang="en-US" sz="1500" dirty="0">
                <a:solidFill>
                  <a:srgbClr val="4A4858"/>
                </a:solidFill>
                <a:latin typeface="Calibri" pitchFamily="34" charset="0"/>
                <a:ea typeface="Calibri" pitchFamily="34" charset="-122"/>
                <a:cs typeface="Calibri" pitchFamily="34" charset="-120"/>
              </a:rPr>
              <a:t>Slot locked instantly; pay by UPI via Razorpay.</a:t>
            </a:r>
            <a:endParaRPr lang="en-US" sz="1500" dirty="0"/>
          </a:p>
        </p:txBody>
      </p:sp>
      <p:sp>
        <p:nvSpPr>
          <p:cNvPr id="13" name="Arrow 2"/>
          <p:cNvSpPr/>
          <p:nvPr/>
        </p:nvSpPr>
        <p:spPr>
          <a:xfrm>
            <a:off x="5954116" y="4023360"/>
            <a:ext cx="283464" cy="274320"/>
          </a:xfrm>
          <a:prstGeom prst="rightArrow">
            <a:avLst/>
          </a:prstGeom>
          <a:solidFill>
            <a:srgbClr val="FF6B2C"/>
          </a:solidFill>
          <a:ln/>
        </p:spPr>
      </p:sp>
      <p:sp>
        <p:nvSpPr>
          <p:cNvPr id="14" name="Step 3"/>
          <p:cNvSpPr/>
          <p:nvPr/>
        </p:nvSpPr>
        <p:spPr>
          <a:xfrm>
            <a:off x="6301588" y="2743200"/>
            <a:ext cx="2350694" cy="2834640"/>
          </a:xfrm>
          <a:prstGeom prst="roundRect">
            <a:avLst>
              <a:gd name="adj" fmla="val 4668"/>
            </a:avLst>
          </a:prstGeom>
          <a:solidFill>
            <a:srgbClr val="FFFFFF"/>
          </a:solidFill>
          <a:ln w="12700">
            <a:solidFill>
              <a:srgbClr val="E4E0D8"/>
            </a:solidFill>
            <a:prstDash val="solid"/>
          </a:ln>
        </p:spPr>
      </p:sp>
      <p:sp>
        <p:nvSpPr>
          <p:cNvPr id="15" name="Text 13"/>
          <p:cNvSpPr txBox="1"/>
          <p:nvPr/>
        </p:nvSpPr>
        <p:spPr>
          <a:xfrm>
            <a:off x="6575908" y="3017520"/>
            <a:ext cx="1802054" cy="640080"/>
          </a:xfrm>
          <a:prstGeom prst="rect">
            <a:avLst/>
          </a:prstGeom>
          <a:noFill/>
          <a:ln/>
        </p:spPr>
        <p:txBody>
          <a:bodyPr wrap="square" lIns="0" tIns="0" rIns="0" bIns="0" rtlCol="0" anchor="t"/>
          <a:lstStyle/>
          <a:p>
            <a:pPr indent="0" marL="0">
              <a:buNone/>
            </a:pPr>
            <a:r>
              <a:rPr lang="en-US" sz="3200" b="1" dirty="0">
                <a:solidFill>
                  <a:srgbClr val="FF6B2C"/>
                </a:solidFill>
                <a:latin typeface="Arial" pitchFamily="34" charset="0"/>
                <a:ea typeface="Arial" pitchFamily="34" charset="-122"/>
                <a:cs typeface="Arial" pitchFamily="34" charset="-120"/>
              </a:rPr>
              <a:t>03</a:t>
            </a:r>
            <a:endParaRPr lang="en-US" sz="3200" dirty="0"/>
          </a:p>
        </p:txBody>
      </p:sp>
      <p:sp>
        <p:nvSpPr>
          <p:cNvPr id="16" name="Text 14"/>
          <p:cNvSpPr txBox="1"/>
          <p:nvPr/>
        </p:nvSpPr>
        <p:spPr>
          <a:xfrm>
            <a:off x="6575908" y="3749040"/>
            <a:ext cx="1802054" cy="457200"/>
          </a:xfrm>
          <a:prstGeom prst="rect">
            <a:avLst/>
          </a:prstGeom>
          <a:noFill/>
          <a:ln/>
        </p:spPr>
        <p:txBody>
          <a:bodyPr wrap="square" lIns="0" tIns="0" rIns="0" bIns="0" rtlCol="0" anchor="t"/>
          <a:lstStyle/>
          <a:p>
            <a:pPr indent="0" marL="0">
              <a:buNone/>
            </a:pPr>
            <a:r>
              <a:rPr lang="en-US" sz="2000" b="1" dirty="0">
                <a:solidFill>
                  <a:srgbClr val="14131C"/>
                </a:solidFill>
                <a:latin typeface="Arial" pitchFamily="34" charset="0"/>
                <a:ea typeface="Arial" pitchFamily="34" charset="-122"/>
                <a:cs typeface="Arial" pitchFamily="34" charset="-120"/>
              </a:rPr>
              <a:t>Check in</a:t>
            </a:r>
            <a:endParaRPr lang="en-US" sz="2000" dirty="0"/>
          </a:p>
        </p:txBody>
      </p:sp>
      <p:sp>
        <p:nvSpPr>
          <p:cNvPr id="17" name="Text 15"/>
          <p:cNvSpPr txBox="1"/>
          <p:nvPr/>
        </p:nvSpPr>
        <p:spPr>
          <a:xfrm>
            <a:off x="6575908" y="4251960"/>
            <a:ext cx="1802054" cy="1097280"/>
          </a:xfrm>
          <a:prstGeom prst="rect">
            <a:avLst/>
          </a:prstGeom>
          <a:noFill/>
          <a:ln/>
        </p:spPr>
        <p:txBody>
          <a:bodyPr wrap="square" lIns="0" tIns="0" rIns="0" bIns="0" rtlCol="0" anchor="t"/>
          <a:lstStyle/>
          <a:p>
            <a:pPr indent="0" marL="0">
              <a:buNone/>
            </a:pPr>
            <a:r>
              <a:rPr lang="en-US" sz="1500" dirty="0">
                <a:solidFill>
                  <a:srgbClr val="4A4858"/>
                </a:solidFill>
                <a:latin typeface="Calibri" pitchFamily="34" charset="0"/>
                <a:ea typeface="Calibri" pitchFamily="34" charset="-122"/>
                <a:cs typeface="Calibri" pitchFamily="34" charset="-120"/>
              </a:rPr>
              <a:t>Driver shows an OTP; owner verifies at the spot.</a:t>
            </a:r>
            <a:endParaRPr lang="en-US" sz="1500" dirty="0"/>
          </a:p>
        </p:txBody>
      </p:sp>
      <p:sp>
        <p:nvSpPr>
          <p:cNvPr id="18" name="Arrow 3"/>
          <p:cNvSpPr/>
          <p:nvPr/>
        </p:nvSpPr>
        <p:spPr>
          <a:xfrm>
            <a:off x="8716289" y="4023360"/>
            <a:ext cx="283464" cy="274320"/>
          </a:xfrm>
          <a:prstGeom prst="rightArrow">
            <a:avLst/>
          </a:prstGeom>
          <a:solidFill>
            <a:srgbClr val="FF6B2C"/>
          </a:solidFill>
          <a:ln/>
        </p:spPr>
      </p:sp>
      <p:sp>
        <p:nvSpPr>
          <p:cNvPr id="19" name="Step 4"/>
          <p:cNvSpPr/>
          <p:nvPr/>
        </p:nvSpPr>
        <p:spPr>
          <a:xfrm>
            <a:off x="9063761" y="2743200"/>
            <a:ext cx="2350694" cy="2834640"/>
          </a:xfrm>
          <a:prstGeom prst="roundRect">
            <a:avLst>
              <a:gd name="adj" fmla="val 4668"/>
            </a:avLst>
          </a:prstGeom>
          <a:solidFill>
            <a:srgbClr val="FFFFFF"/>
          </a:solidFill>
          <a:ln w="12700">
            <a:solidFill>
              <a:srgbClr val="E4E0D8"/>
            </a:solidFill>
            <a:prstDash val="solid"/>
          </a:ln>
        </p:spPr>
      </p:sp>
      <p:sp>
        <p:nvSpPr>
          <p:cNvPr id="20" name="Text 18"/>
          <p:cNvSpPr txBox="1"/>
          <p:nvPr/>
        </p:nvSpPr>
        <p:spPr>
          <a:xfrm>
            <a:off x="9338081" y="3017520"/>
            <a:ext cx="1802054" cy="640080"/>
          </a:xfrm>
          <a:prstGeom prst="rect">
            <a:avLst/>
          </a:prstGeom>
          <a:noFill/>
          <a:ln/>
        </p:spPr>
        <p:txBody>
          <a:bodyPr wrap="square" lIns="0" tIns="0" rIns="0" bIns="0" rtlCol="0" anchor="t"/>
          <a:lstStyle/>
          <a:p>
            <a:pPr indent="0" marL="0">
              <a:buNone/>
            </a:pPr>
            <a:r>
              <a:rPr lang="en-US" sz="3200" b="1" dirty="0">
                <a:solidFill>
                  <a:srgbClr val="FF6B2C"/>
                </a:solidFill>
                <a:latin typeface="Arial" pitchFamily="34" charset="0"/>
                <a:ea typeface="Arial" pitchFamily="34" charset="-122"/>
                <a:cs typeface="Arial" pitchFamily="34" charset="-120"/>
              </a:rPr>
              <a:t>04</a:t>
            </a:r>
            <a:endParaRPr lang="en-US" sz="3200" dirty="0"/>
          </a:p>
        </p:txBody>
      </p:sp>
      <p:sp>
        <p:nvSpPr>
          <p:cNvPr id="21" name="Text 19"/>
          <p:cNvSpPr txBox="1"/>
          <p:nvPr/>
        </p:nvSpPr>
        <p:spPr>
          <a:xfrm>
            <a:off x="9338081" y="3749040"/>
            <a:ext cx="1802054" cy="457200"/>
          </a:xfrm>
          <a:prstGeom prst="rect">
            <a:avLst/>
          </a:prstGeom>
          <a:noFill/>
          <a:ln/>
        </p:spPr>
        <p:txBody>
          <a:bodyPr wrap="square" lIns="0" tIns="0" rIns="0" bIns="0" rtlCol="0" anchor="t"/>
          <a:lstStyle/>
          <a:p>
            <a:pPr indent="0" marL="0">
              <a:buNone/>
            </a:pPr>
            <a:r>
              <a:rPr lang="en-US" sz="2000" b="1" dirty="0">
                <a:solidFill>
                  <a:srgbClr val="14131C"/>
                </a:solidFill>
                <a:latin typeface="Arial" pitchFamily="34" charset="0"/>
                <a:ea typeface="Arial" pitchFamily="34" charset="-122"/>
                <a:cs typeface="Arial" pitchFamily="34" charset="-120"/>
              </a:rPr>
              <a:t>Check out</a:t>
            </a:r>
            <a:endParaRPr lang="en-US" sz="2000" dirty="0"/>
          </a:p>
        </p:txBody>
      </p:sp>
      <p:sp>
        <p:nvSpPr>
          <p:cNvPr id="22" name="Text 20"/>
          <p:cNvSpPr txBox="1"/>
          <p:nvPr/>
        </p:nvSpPr>
        <p:spPr>
          <a:xfrm>
            <a:off x="9338081" y="4251960"/>
            <a:ext cx="1802054" cy="1097280"/>
          </a:xfrm>
          <a:prstGeom prst="rect">
            <a:avLst/>
          </a:prstGeom>
          <a:noFill/>
          <a:ln/>
        </p:spPr>
        <p:txBody>
          <a:bodyPr wrap="square" lIns="0" tIns="0" rIns="0" bIns="0" rtlCol="0" anchor="t"/>
          <a:lstStyle/>
          <a:p>
            <a:pPr indent="0" marL="0">
              <a:buNone/>
            </a:pPr>
            <a:r>
              <a:rPr lang="en-US" sz="1500" dirty="0">
                <a:solidFill>
                  <a:srgbClr val="4A4858"/>
                </a:solidFill>
                <a:latin typeface="Calibri" pitchFamily="34" charset="0"/>
                <a:ea typeface="Calibri" pitchFamily="34" charset="-122"/>
                <a:cs typeface="Calibri" pitchFamily="34" charset="-120"/>
              </a:rPr>
              <a:t>Owner confirms exit; earnings settle automatically.</a:t>
            </a:r>
            <a:endParaRPr lang="en-US" sz="1500" dirty="0"/>
          </a:p>
        </p:txBody>
      </p:sp>
      <p:sp>
        <p:nvSpPr>
          <p:cNvPr id="25" name="Slide Number Placeholder 0"/>
          <p:cNvSpPr>
            <a:spLocks noGrp="1"/>
          </p:cNvSpPr>
          <p:nvPr>
            <p:ph type="sldNum" sz="quarter" idx="4294967295"/>
          </p:nvPr>
        </p:nvSpPr>
        <p:spPr>
          <a:xfrm>
            <a:off x="108658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C84A1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777240" y="640080"/>
            <a:ext cx="10637215" cy="365760"/>
          </a:xfrm>
          <a:prstGeom prst="rect">
            <a:avLst/>
          </a:prstGeom>
          <a:noFill/>
          <a:ln/>
        </p:spPr>
        <p:txBody>
          <a:bodyPr wrap="square" lIns="0" tIns="0" rIns="0" bIns="0" rtlCol="0" anchor="t"/>
          <a:lstStyle/>
          <a:p>
            <a:pPr algn="l" indent="0" marL="0">
              <a:buNone/>
            </a:pPr>
            <a:r>
              <a:rPr lang="en-US" sz="1400" b="1" spc="300" kern="0" dirty="0">
                <a:solidFill>
                  <a:srgbClr val="FF8A57"/>
                </a:solidFill>
              </a:rPr>
              <a:t>TRUST &amp; SAFETY</a:t>
            </a:r>
            <a:endParaRPr lang="en-US" sz="1400" dirty="0"/>
          </a:p>
        </p:txBody>
      </p:sp>
      <p:sp>
        <p:nvSpPr>
          <p:cNvPr id="3" name="Text 0"/>
          <p:cNvSpPr/>
          <p:nvPr>
            <p:ph idx="101" type="title" hasCustomPrompt="1"/>
          </p:nvPr>
        </p:nvSpPr>
        <p:spPr>
          <a:xfrm>
            <a:off x="777240" y="1005840"/>
            <a:ext cx="10637215" cy="1371600"/>
          </a:xfrm>
          <a:prstGeom prst="rect">
            <a:avLst/>
          </a:prstGeom>
          <a:noFill/>
          <a:ln/>
        </p:spPr>
        <p:txBody>
          <a:bodyPr wrap="square" lIns="0" tIns="0" rIns="0" bIns="0" rtlCol="0" anchor="t"/>
          <a:lstStyle/>
          <a:p>
            <a:pPr algn="l" indent="0" marL="0">
              <a:buNone/>
            </a:pPr>
            <a:r>
              <a:rPr lang="en-US" sz="4000" b="1" dirty="0">
                <a:solidFill>
                  <a:srgbClr val="F7F5F0"/>
                </a:solidFill>
                <a:latin typeface="Arial" pitchFamily="34" charset="0"/>
                <a:ea typeface="Arial" pitchFamily="34" charset="-122"/>
                <a:cs typeface="Arial" pitchFamily="34" charset="-120"/>
              </a:rPr>
              <a:t>Built so strangers can trust each other</a:t>
            </a:r>
            <a:endParaRPr lang="en-US" sz="4000" dirty="0"/>
          </a:p>
        </p:txBody>
      </p:sp>
      <p:sp>
        <p:nvSpPr>
          <p:cNvPr id="4" name="Trust 1"/>
          <p:cNvSpPr/>
          <p:nvPr/>
        </p:nvSpPr>
        <p:spPr>
          <a:xfrm>
            <a:off x="777240" y="2606040"/>
            <a:ext cx="5158588" cy="1417320"/>
          </a:xfrm>
          <a:prstGeom prst="roundRect">
            <a:avLst>
              <a:gd name="adj" fmla="val 7742"/>
            </a:avLst>
          </a:prstGeom>
          <a:solidFill>
            <a:srgbClr val="1A1A26"/>
          </a:solidFill>
          <a:ln w="12700">
            <a:solidFill>
              <a:srgbClr val="2E2D3D"/>
            </a:solidFill>
            <a:prstDash val="solid"/>
          </a:ln>
        </p:spPr>
      </p:sp>
      <p:sp>
        <p:nvSpPr>
          <p:cNvPr id="5" name="Shape 3"/>
          <p:cNvSpPr/>
          <p:nvPr/>
        </p:nvSpPr>
        <p:spPr>
          <a:xfrm>
            <a:off x="1051560" y="2926080"/>
            <a:ext cx="640080" cy="640080"/>
          </a:xfrm>
          <a:prstGeom prst="ellipse">
            <a:avLst/>
          </a:prstGeom>
          <a:solidFill>
            <a:srgbClr val="FF6B2C"/>
          </a:solidFill>
          <a:ln/>
        </p:spPr>
      </p:sp>
      <p:pic>
        <p:nvPicPr>
          <p:cNvPr id="6" name="Image 0" descr="OTP on every login">    </p:cNvPr>
          <p:cNvPicPr>
            <a:picLocks noChangeAspect="1"/>
          </p:cNvPicPr>
          <p:nvPr/>
        </p:nvPicPr>
        <p:blipFill>
          <a:blip r:embed="rId1"/>
          <a:stretch>
            <a:fillRect/>
          </a:stretch>
        </p:blipFill>
        <p:spPr>
          <a:xfrm>
            <a:off x="1188720" y="3063240"/>
            <a:ext cx="365760" cy="365760"/>
          </a:xfrm>
          <a:prstGeom prst="rect">
            <a:avLst/>
          </a:prstGeom>
        </p:spPr>
      </p:pic>
      <p:sp>
        <p:nvSpPr>
          <p:cNvPr id="7" name="Text 4"/>
          <p:cNvSpPr txBox="1"/>
          <p:nvPr/>
        </p:nvSpPr>
        <p:spPr>
          <a:xfrm>
            <a:off x="1920240" y="2834640"/>
            <a:ext cx="3786988" cy="411480"/>
          </a:xfrm>
          <a:prstGeom prst="rect">
            <a:avLst/>
          </a:prstGeom>
          <a:noFill/>
          <a:ln/>
        </p:spPr>
        <p:txBody>
          <a:bodyPr wrap="square" lIns="0" tIns="0" rIns="0" bIns="0" rtlCol="0" anchor="t"/>
          <a:lstStyle/>
          <a:p>
            <a:pPr indent="0" marL="0">
              <a:buNone/>
            </a:pPr>
            <a:r>
              <a:rPr lang="en-US" sz="2000" b="1" dirty="0">
                <a:solidFill>
                  <a:srgbClr val="F7F5F0"/>
                </a:solidFill>
                <a:latin typeface="Arial" pitchFamily="34" charset="0"/>
                <a:ea typeface="Arial" pitchFamily="34" charset="-122"/>
                <a:cs typeface="Arial" pitchFamily="34" charset="-120"/>
              </a:rPr>
              <a:t>OTP on every login</a:t>
            </a:r>
            <a:endParaRPr lang="en-US" sz="2000" dirty="0"/>
          </a:p>
        </p:txBody>
      </p:sp>
      <p:sp>
        <p:nvSpPr>
          <p:cNvPr id="8" name="Text 5"/>
          <p:cNvSpPr txBox="1"/>
          <p:nvPr/>
        </p:nvSpPr>
        <p:spPr>
          <a:xfrm>
            <a:off x="1920240" y="3291840"/>
            <a:ext cx="3786988" cy="640080"/>
          </a:xfrm>
          <a:prstGeom prst="rect">
            <a:avLst/>
          </a:prstGeom>
          <a:noFill/>
          <a:ln/>
        </p:spPr>
        <p:txBody>
          <a:bodyPr wrap="square" lIns="0" tIns="0" rIns="0" bIns="0" rtlCol="0" anchor="t"/>
          <a:lstStyle/>
          <a:p>
            <a:pPr indent="0" marL="0">
              <a:buNone/>
            </a:pPr>
            <a:r>
              <a:rPr lang="en-US" sz="1500" dirty="0">
                <a:solidFill>
                  <a:srgbClr val="B9B6C4"/>
                </a:solidFill>
                <a:latin typeface="Calibri" pitchFamily="34" charset="0"/>
                <a:ea typeface="Calibri" pitchFamily="34" charset="-122"/>
                <a:cs typeface="Calibri" pitchFamily="34" charset="-120"/>
              </a:rPr>
              <a:t>Google or email sign-in plus a one-time code by email — no way to skip it.</a:t>
            </a:r>
            <a:endParaRPr lang="en-US" sz="1500" dirty="0"/>
          </a:p>
        </p:txBody>
      </p:sp>
      <p:sp>
        <p:nvSpPr>
          <p:cNvPr id="9" name="Trust 2"/>
          <p:cNvSpPr/>
          <p:nvPr/>
        </p:nvSpPr>
        <p:spPr>
          <a:xfrm>
            <a:off x="6255868" y="2606040"/>
            <a:ext cx="5158588" cy="1417320"/>
          </a:xfrm>
          <a:prstGeom prst="roundRect">
            <a:avLst>
              <a:gd name="adj" fmla="val 7742"/>
            </a:avLst>
          </a:prstGeom>
          <a:solidFill>
            <a:srgbClr val="1A1A26"/>
          </a:solidFill>
          <a:ln w="12700">
            <a:solidFill>
              <a:srgbClr val="2E2D3D"/>
            </a:solidFill>
            <a:prstDash val="solid"/>
          </a:ln>
        </p:spPr>
      </p:sp>
      <p:sp>
        <p:nvSpPr>
          <p:cNvPr id="10" name="Shape 7"/>
          <p:cNvSpPr/>
          <p:nvPr/>
        </p:nvSpPr>
        <p:spPr>
          <a:xfrm>
            <a:off x="6530188" y="2926080"/>
            <a:ext cx="640080" cy="640080"/>
          </a:xfrm>
          <a:prstGeom prst="ellipse">
            <a:avLst/>
          </a:prstGeom>
          <a:solidFill>
            <a:srgbClr val="FF6B2C"/>
          </a:solidFill>
          <a:ln/>
        </p:spPr>
      </p:sp>
      <p:pic>
        <p:nvPicPr>
          <p:cNvPr id="11" name="Image 1" descr="Verified owners only">    </p:cNvPr>
          <p:cNvPicPr>
            <a:picLocks noChangeAspect="1"/>
          </p:cNvPicPr>
          <p:nvPr/>
        </p:nvPicPr>
        <p:blipFill>
          <a:blip r:embed="rId2"/>
          <a:stretch>
            <a:fillRect/>
          </a:stretch>
        </p:blipFill>
        <p:spPr>
          <a:xfrm>
            <a:off x="6667348" y="3063240"/>
            <a:ext cx="365760" cy="365760"/>
          </a:xfrm>
          <a:prstGeom prst="rect">
            <a:avLst/>
          </a:prstGeom>
        </p:spPr>
      </p:pic>
      <p:sp>
        <p:nvSpPr>
          <p:cNvPr id="12" name="Text 8"/>
          <p:cNvSpPr txBox="1"/>
          <p:nvPr/>
        </p:nvSpPr>
        <p:spPr>
          <a:xfrm>
            <a:off x="7398868" y="2834640"/>
            <a:ext cx="3786988" cy="411480"/>
          </a:xfrm>
          <a:prstGeom prst="rect">
            <a:avLst/>
          </a:prstGeom>
          <a:noFill/>
          <a:ln/>
        </p:spPr>
        <p:txBody>
          <a:bodyPr wrap="square" lIns="0" tIns="0" rIns="0" bIns="0" rtlCol="0" anchor="t"/>
          <a:lstStyle/>
          <a:p>
            <a:pPr indent="0" marL="0">
              <a:buNone/>
            </a:pPr>
            <a:r>
              <a:rPr lang="en-US" sz="2000" b="1" dirty="0">
                <a:solidFill>
                  <a:srgbClr val="F7F5F0"/>
                </a:solidFill>
                <a:latin typeface="Arial" pitchFamily="34" charset="0"/>
                <a:ea typeface="Arial" pitchFamily="34" charset="-122"/>
                <a:cs typeface="Arial" pitchFamily="34" charset="-120"/>
              </a:rPr>
              <a:t>Verified owners only</a:t>
            </a:r>
            <a:endParaRPr lang="en-US" sz="2000" dirty="0"/>
          </a:p>
        </p:txBody>
      </p:sp>
      <p:sp>
        <p:nvSpPr>
          <p:cNvPr id="13" name="Text 9"/>
          <p:cNvSpPr txBox="1"/>
          <p:nvPr/>
        </p:nvSpPr>
        <p:spPr>
          <a:xfrm>
            <a:off x="7398868" y="3291840"/>
            <a:ext cx="3786988" cy="640080"/>
          </a:xfrm>
          <a:prstGeom prst="rect">
            <a:avLst/>
          </a:prstGeom>
          <a:noFill/>
          <a:ln/>
        </p:spPr>
        <p:txBody>
          <a:bodyPr wrap="square" lIns="0" tIns="0" rIns="0" bIns="0" rtlCol="0" anchor="t"/>
          <a:lstStyle/>
          <a:p>
            <a:pPr indent="0" marL="0">
              <a:buNone/>
            </a:pPr>
            <a:r>
              <a:rPr lang="en-US" sz="1500" dirty="0">
                <a:solidFill>
                  <a:srgbClr val="B9B6C4"/>
                </a:solidFill>
                <a:latin typeface="Calibri" pitchFamily="34" charset="0"/>
                <a:ea typeface="Calibri" pitchFamily="34" charset="-122"/>
                <a:cs typeface="Calibri" pitchFamily="34" charset="-120"/>
              </a:rPr>
              <a:t>Drivers only see and book spots of owners who passed verification.</a:t>
            </a:r>
            <a:endParaRPr lang="en-US" sz="1500" dirty="0"/>
          </a:p>
        </p:txBody>
      </p:sp>
      <p:sp>
        <p:nvSpPr>
          <p:cNvPr id="14" name="Trust 3"/>
          <p:cNvSpPr/>
          <p:nvPr/>
        </p:nvSpPr>
        <p:spPr>
          <a:xfrm>
            <a:off x="777240" y="4297680"/>
            <a:ext cx="5158588" cy="1417320"/>
          </a:xfrm>
          <a:prstGeom prst="roundRect">
            <a:avLst>
              <a:gd name="adj" fmla="val 7742"/>
            </a:avLst>
          </a:prstGeom>
          <a:solidFill>
            <a:srgbClr val="1A1A26"/>
          </a:solidFill>
          <a:ln w="12700">
            <a:solidFill>
              <a:srgbClr val="2E2D3D"/>
            </a:solidFill>
            <a:prstDash val="solid"/>
          </a:ln>
        </p:spPr>
      </p:sp>
      <p:sp>
        <p:nvSpPr>
          <p:cNvPr id="15" name="Shape 11"/>
          <p:cNvSpPr/>
          <p:nvPr/>
        </p:nvSpPr>
        <p:spPr>
          <a:xfrm>
            <a:off x="1051560" y="4617720"/>
            <a:ext cx="640080" cy="640080"/>
          </a:xfrm>
          <a:prstGeom prst="ellipse">
            <a:avLst/>
          </a:prstGeom>
          <a:solidFill>
            <a:srgbClr val="FF6B2C"/>
          </a:solidFill>
          <a:ln/>
        </p:spPr>
      </p:sp>
      <p:pic>
        <p:nvPicPr>
          <p:cNvPr id="16" name="Image 2" descr="OTP at the gate">    </p:cNvPr>
          <p:cNvPicPr>
            <a:picLocks noChangeAspect="1"/>
          </p:cNvPicPr>
          <p:nvPr/>
        </p:nvPicPr>
        <p:blipFill>
          <a:blip r:embed="rId3"/>
          <a:stretch>
            <a:fillRect/>
          </a:stretch>
        </p:blipFill>
        <p:spPr>
          <a:xfrm>
            <a:off x="1188720" y="4754880"/>
            <a:ext cx="365760" cy="365760"/>
          </a:xfrm>
          <a:prstGeom prst="rect">
            <a:avLst/>
          </a:prstGeom>
        </p:spPr>
      </p:pic>
      <p:sp>
        <p:nvSpPr>
          <p:cNvPr id="17" name="Text 12"/>
          <p:cNvSpPr txBox="1"/>
          <p:nvPr/>
        </p:nvSpPr>
        <p:spPr>
          <a:xfrm>
            <a:off x="1920240" y="4526280"/>
            <a:ext cx="3786988" cy="411480"/>
          </a:xfrm>
          <a:prstGeom prst="rect">
            <a:avLst/>
          </a:prstGeom>
          <a:noFill/>
          <a:ln/>
        </p:spPr>
        <p:txBody>
          <a:bodyPr wrap="square" lIns="0" tIns="0" rIns="0" bIns="0" rtlCol="0" anchor="t"/>
          <a:lstStyle/>
          <a:p>
            <a:pPr indent="0" marL="0">
              <a:buNone/>
            </a:pPr>
            <a:r>
              <a:rPr lang="en-US" sz="2000" b="1" dirty="0">
                <a:solidFill>
                  <a:srgbClr val="F7F5F0"/>
                </a:solidFill>
                <a:latin typeface="Arial" pitchFamily="34" charset="0"/>
                <a:ea typeface="Arial" pitchFamily="34" charset="-122"/>
                <a:cs typeface="Arial" pitchFamily="34" charset="-120"/>
              </a:rPr>
              <a:t>OTP at the gate</a:t>
            </a:r>
            <a:endParaRPr lang="en-US" sz="2000" dirty="0"/>
          </a:p>
        </p:txBody>
      </p:sp>
      <p:sp>
        <p:nvSpPr>
          <p:cNvPr id="18" name="Text 13"/>
          <p:cNvSpPr txBox="1"/>
          <p:nvPr/>
        </p:nvSpPr>
        <p:spPr>
          <a:xfrm>
            <a:off x="1920240" y="4983480"/>
            <a:ext cx="3786988" cy="640080"/>
          </a:xfrm>
          <a:prstGeom prst="rect">
            <a:avLst/>
          </a:prstGeom>
          <a:noFill/>
          <a:ln/>
        </p:spPr>
        <p:txBody>
          <a:bodyPr wrap="square" lIns="0" tIns="0" rIns="0" bIns="0" rtlCol="0" anchor="t"/>
          <a:lstStyle/>
          <a:p>
            <a:pPr indent="0" marL="0">
              <a:buNone/>
            </a:pPr>
            <a:r>
              <a:rPr lang="en-US" sz="1500" dirty="0">
                <a:solidFill>
                  <a:srgbClr val="B9B6C4"/>
                </a:solidFill>
                <a:latin typeface="Calibri" pitchFamily="34" charset="0"/>
                <a:ea typeface="Calibri" pitchFamily="34" charset="-122"/>
                <a:cs typeface="Calibri" pitchFamily="34" charset="-120"/>
              </a:rPr>
              <a:t>Check-in and check-out are confirmed by codes, not by trust alone.</a:t>
            </a:r>
            <a:endParaRPr lang="en-US" sz="1500" dirty="0"/>
          </a:p>
        </p:txBody>
      </p:sp>
      <p:sp>
        <p:nvSpPr>
          <p:cNvPr id="19" name="Trust 4"/>
          <p:cNvSpPr/>
          <p:nvPr/>
        </p:nvSpPr>
        <p:spPr>
          <a:xfrm>
            <a:off x="6255868" y="4297680"/>
            <a:ext cx="5158588" cy="1417320"/>
          </a:xfrm>
          <a:prstGeom prst="roundRect">
            <a:avLst>
              <a:gd name="adj" fmla="val 7742"/>
            </a:avLst>
          </a:prstGeom>
          <a:solidFill>
            <a:srgbClr val="1A1A26"/>
          </a:solidFill>
          <a:ln w="12700">
            <a:solidFill>
              <a:srgbClr val="2E2D3D"/>
            </a:solidFill>
            <a:prstDash val="solid"/>
          </a:ln>
        </p:spPr>
      </p:sp>
      <p:sp>
        <p:nvSpPr>
          <p:cNvPr id="20" name="Shape 15"/>
          <p:cNvSpPr/>
          <p:nvPr/>
        </p:nvSpPr>
        <p:spPr>
          <a:xfrm>
            <a:off x="6530188" y="4617720"/>
            <a:ext cx="640080" cy="640080"/>
          </a:xfrm>
          <a:prstGeom prst="ellipse">
            <a:avLst/>
          </a:prstGeom>
          <a:solidFill>
            <a:srgbClr val="FF6B2C"/>
          </a:solidFill>
          <a:ln/>
        </p:spPr>
      </p:sp>
      <p:pic>
        <p:nvPicPr>
          <p:cNvPr id="21" name="Image 3" descr="Privacy by design">    </p:cNvPr>
          <p:cNvPicPr>
            <a:picLocks noChangeAspect="1"/>
          </p:cNvPicPr>
          <p:nvPr/>
        </p:nvPicPr>
        <p:blipFill>
          <a:blip r:embed="rId4"/>
          <a:stretch>
            <a:fillRect/>
          </a:stretch>
        </p:blipFill>
        <p:spPr>
          <a:xfrm>
            <a:off x="6667348" y="4754880"/>
            <a:ext cx="365760" cy="365760"/>
          </a:xfrm>
          <a:prstGeom prst="rect">
            <a:avLst/>
          </a:prstGeom>
        </p:spPr>
      </p:pic>
      <p:sp>
        <p:nvSpPr>
          <p:cNvPr id="22" name="Text 16"/>
          <p:cNvSpPr txBox="1"/>
          <p:nvPr/>
        </p:nvSpPr>
        <p:spPr>
          <a:xfrm>
            <a:off x="7398868" y="4526280"/>
            <a:ext cx="3786988" cy="411480"/>
          </a:xfrm>
          <a:prstGeom prst="rect">
            <a:avLst/>
          </a:prstGeom>
          <a:noFill/>
          <a:ln/>
        </p:spPr>
        <p:txBody>
          <a:bodyPr wrap="square" lIns="0" tIns="0" rIns="0" bIns="0" rtlCol="0" anchor="t"/>
          <a:lstStyle/>
          <a:p>
            <a:pPr indent="0" marL="0">
              <a:buNone/>
            </a:pPr>
            <a:r>
              <a:rPr lang="en-US" sz="2000" b="1" dirty="0">
                <a:solidFill>
                  <a:srgbClr val="F7F5F0"/>
                </a:solidFill>
                <a:latin typeface="Arial" pitchFamily="34" charset="0"/>
                <a:ea typeface="Arial" pitchFamily="34" charset="-122"/>
                <a:cs typeface="Arial" pitchFamily="34" charset="-120"/>
              </a:rPr>
              <a:t>Privacy by design</a:t>
            </a:r>
            <a:endParaRPr lang="en-US" sz="2000" dirty="0"/>
          </a:p>
        </p:txBody>
      </p:sp>
      <p:sp>
        <p:nvSpPr>
          <p:cNvPr id="23" name="Text 17"/>
          <p:cNvSpPr txBox="1"/>
          <p:nvPr/>
        </p:nvSpPr>
        <p:spPr>
          <a:xfrm>
            <a:off x="7398868" y="4983480"/>
            <a:ext cx="3786988" cy="640080"/>
          </a:xfrm>
          <a:prstGeom prst="rect">
            <a:avLst/>
          </a:prstGeom>
          <a:noFill/>
          <a:ln/>
        </p:spPr>
        <p:txBody>
          <a:bodyPr wrap="square" lIns="0" tIns="0" rIns="0" bIns="0" rtlCol="0" anchor="t"/>
          <a:lstStyle/>
          <a:p>
            <a:pPr indent="0" marL="0">
              <a:buNone/>
            </a:pPr>
            <a:r>
              <a:rPr lang="en-US" sz="1500" dirty="0">
                <a:solidFill>
                  <a:srgbClr val="B9B6C4"/>
                </a:solidFill>
                <a:latin typeface="Calibri" pitchFamily="34" charset="0"/>
                <a:ea typeface="Calibri" pitchFamily="34" charset="-122"/>
                <a:cs typeface="Calibri" pitchFamily="34" charset="-120"/>
              </a:rPr>
              <a:t>We never store a full Aadhaar number, an Aadhaar photo or a selfie.</a:t>
            </a:r>
            <a:endParaRPr lang="en-US" sz="1500" dirty="0"/>
          </a:p>
        </p:txBody>
      </p:sp>
      <p:sp>
        <p:nvSpPr>
          <p:cNvPr id="25" name="Slide Number Placeholder 0"/>
          <p:cNvSpPr>
            <a:spLocks noGrp="1"/>
          </p:cNvSpPr>
          <p:nvPr>
            <p:ph type="sldNum" sz="quarter" idx="4294967295"/>
          </p:nvPr>
        </p:nvSpPr>
        <p:spPr>
          <a:xfrm>
            <a:off x="108658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8A57"/>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777240" y="640080"/>
            <a:ext cx="10637215" cy="365760"/>
          </a:xfrm>
          <a:prstGeom prst="rect">
            <a:avLst/>
          </a:prstGeom>
          <a:noFill/>
          <a:ln/>
        </p:spPr>
        <p:txBody>
          <a:bodyPr wrap="square" lIns="0" tIns="0" rIns="0" bIns="0" rtlCol="0" anchor="t"/>
          <a:lstStyle/>
          <a:p>
            <a:pPr algn="l" indent="0" marL="0">
              <a:buNone/>
            </a:pPr>
            <a:r>
              <a:rPr lang="en-US" sz="1400" b="1" spc="300" kern="0" dirty="0">
                <a:solidFill>
                  <a:srgbClr val="C84A12"/>
                </a:solidFill>
              </a:rPr>
              <a:t>OWNER VERIFICATION</a:t>
            </a:r>
            <a:endParaRPr lang="en-US" sz="1400" dirty="0"/>
          </a:p>
        </p:txBody>
      </p:sp>
      <p:sp>
        <p:nvSpPr>
          <p:cNvPr id="3" name="Text 0"/>
          <p:cNvSpPr/>
          <p:nvPr>
            <p:ph idx="101" type="title" hasCustomPrompt="1"/>
          </p:nvPr>
        </p:nvSpPr>
        <p:spPr>
          <a:xfrm>
            <a:off x="777240" y="1005840"/>
            <a:ext cx="10637215" cy="1371600"/>
          </a:xfrm>
          <a:prstGeom prst="rect">
            <a:avLst/>
          </a:prstGeom>
          <a:noFill/>
          <a:ln/>
        </p:spPr>
        <p:txBody>
          <a:bodyPr wrap="square" lIns="0" tIns="0" rIns="0" bIns="0" rtlCol="0" anchor="t"/>
          <a:lstStyle/>
          <a:p>
            <a:pPr algn="l" indent="0" marL="0">
              <a:buNone/>
            </a:pPr>
            <a:r>
              <a:rPr lang="en-US" sz="4000" b="1" dirty="0">
                <a:solidFill>
                  <a:srgbClr val="14131C"/>
                </a:solidFill>
                <a:latin typeface="Arial" pitchFamily="34" charset="0"/>
                <a:ea typeface="Arial" pitchFamily="34" charset="-122"/>
                <a:cs typeface="Arial" pitchFamily="34" charset="-120"/>
              </a:rPr>
              <a:t>Five checks before an owner goes live</a:t>
            </a:r>
            <a:endParaRPr lang="en-US" sz="4000" dirty="0"/>
          </a:p>
        </p:txBody>
      </p:sp>
      <p:sp>
        <p:nvSpPr>
          <p:cNvPr id="4" name="Check 1"/>
          <p:cNvSpPr/>
          <p:nvPr/>
        </p:nvSpPr>
        <p:spPr>
          <a:xfrm>
            <a:off x="777240" y="2560320"/>
            <a:ext cx="1944563" cy="2514600"/>
          </a:xfrm>
          <a:prstGeom prst="roundRect">
            <a:avLst>
              <a:gd name="adj" fmla="val 5643"/>
            </a:avLst>
          </a:prstGeom>
          <a:solidFill>
            <a:srgbClr val="FFFFFF"/>
          </a:solidFill>
          <a:ln w="12700">
            <a:solidFill>
              <a:srgbClr val="E4E0D8"/>
            </a:solidFill>
            <a:prstDash val="solid"/>
          </a:ln>
        </p:spPr>
      </p:sp>
      <p:sp>
        <p:nvSpPr>
          <p:cNvPr id="5" name="Shape 3"/>
          <p:cNvSpPr/>
          <p:nvPr/>
        </p:nvSpPr>
        <p:spPr>
          <a:xfrm>
            <a:off x="1005840" y="2834640"/>
            <a:ext cx="594360" cy="594360"/>
          </a:xfrm>
          <a:prstGeom prst="ellipse">
            <a:avLst/>
          </a:prstGeom>
          <a:solidFill>
            <a:srgbClr val="FFF0E8"/>
          </a:solidFill>
          <a:ln/>
        </p:spPr>
      </p:sp>
      <p:pic>
        <p:nvPicPr>
          <p:cNvPr id="6" name="Image 0" descr="Aadhaar">    </p:cNvPr>
          <p:cNvPicPr>
            <a:picLocks noChangeAspect="1"/>
          </p:cNvPicPr>
          <p:nvPr/>
        </p:nvPicPr>
        <p:blipFill>
          <a:blip r:embed="rId1"/>
          <a:stretch>
            <a:fillRect/>
          </a:stretch>
        </p:blipFill>
        <p:spPr>
          <a:xfrm>
            <a:off x="1133856" y="2962656"/>
            <a:ext cx="338328" cy="338328"/>
          </a:xfrm>
          <a:prstGeom prst="rect">
            <a:avLst/>
          </a:prstGeom>
        </p:spPr>
      </p:pic>
      <p:sp>
        <p:nvSpPr>
          <p:cNvPr id="7" name="Text 4"/>
          <p:cNvSpPr txBox="1"/>
          <p:nvPr/>
        </p:nvSpPr>
        <p:spPr>
          <a:xfrm>
            <a:off x="1005840" y="3566160"/>
            <a:ext cx="1487363" cy="411480"/>
          </a:xfrm>
          <a:prstGeom prst="rect">
            <a:avLst/>
          </a:prstGeom>
          <a:noFill/>
          <a:ln/>
        </p:spPr>
        <p:txBody>
          <a:bodyPr wrap="square" lIns="0" tIns="0" rIns="0" bIns="0" rtlCol="0" anchor="t"/>
          <a:lstStyle/>
          <a:p>
            <a:pPr indent="0" marL="0">
              <a:buNone/>
            </a:pPr>
            <a:r>
              <a:rPr lang="en-US" sz="1800" b="1" dirty="0">
                <a:solidFill>
                  <a:srgbClr val="14131C"/>
                </a:solidFill>
                <a:latin typeface="Arial" pitchFamily="34" charset="0"/>
                <a:ea typeface="Arial" pitchFamily="34" charset="-122"/>
                <a:cs typeface="Arial" pitchFamily="34" charset="-120"/>
              </a:rPr>
              <a:t>Aadhaar</a:t>
            </a:r>
            <a:endParaRPr lang="en-US" sz="1800" dirty="0"/>
          </a:p>
        </p:txBody>
      </p:sp>
      <p:sp>
        <p:nvSpPr>
          <p:cNvPr id="8" name="Text 5"/>
          <p:cNvSpPr txBox="1"/>
          <p:nvPr/>
        </p:nvSpPr>
        <p:spPr>
          <a:xfrm>
            <a:off x="1005840" y="4023360"/>
            <a:ext cx="1487363" cy="960120"/>
          </a:xfrm>
          <a:prstGeom prst="rect">
            <a:avLst/>
          </a:prstGeom>
          <a:noFill/>
          <a:ln/>
        </p:spPr>
        <p:txBody>
          <a:bodyPr wrap="square" lIns="0" tIns="0" rIns="0" bIns="0" rtlCol="0" anchor="t"/>
          <a:lstStyle/>
          <a:p>
            <a:pPr indent="0" marL="0">
              <a:buNone/>
            </a:pPr>
            <a:r>
              <a:rPr lang="en-US" sz="1300" dirty="0">
                <a:solidFill>
                  <a:srgbClr val="4A4858"/>
                </a:solidFill>
                <a:latin typeface="Calibri" pitchFamily="34" charset="0"/>
                <a:ea typeface="Calibri" pitchFamily="34" charset="-122"/>
                <a:cs typeface="Calibri" pitchFamily="34" charset="-120"/>
              </a:rPr>
              <a:t>Shared through DigiLocker with the owner's consent.</a:t>
            </a:r>
            <a:endParaRPr lang="en-US" sz="1300" dirty="0"/>
          </a:p>
        </p:txBody>
      </p:sp>
      <p:sp>
        <p:nvSpPr>
          <p:cNvPr id="9" name="Check 2"/>
          <p:cNvSpPr/>
          <p:nvPr/>
        </p:nvSpPr>
        <p:spPr>
          <a:xfrm>
            <a:off x="2950403" y="2560320"/>
            <a:ext cx="1944563" cy="2514600"/>
          </a:xfrm>
          <a:prstGeom prst="roundRect">
            <a:avLst>
              <a:gd name="adj" fmla="val 5643"/>
            </a:avLst>
          </a:prstGeom>
          <a:solidFill>
            <a:srgbClr val="FFFFFF"/>
          </a:solidFill>
          <a:ln w="12700">
            <a:solidFill>
              <a:srgbClr val="E4E0D8"/>
            </a:solidFill>
            <a:prstDash val="solid"/>
          </a:ln>
        </p:spPr>
      </p:sp>
      <p:sp>
        <p:nvSpPr>
          <p:cNvPr id="10" name="Shape 7"/>
          <p:cNvSpPr/>
          <p:nvPr/>
        </p:nvSpPr>
        <p:spPr>
          <a:xfrm>
            <a:off x="3179003" y="2834640"/>
            <a:ext cx="594360" cy="594360"/>
          </a:xfrm>
          <a:prstGeom prst="ellipse">
            <a:avLst/>
          </a:prstGeom>
          <a:solidFill>
            <a:srgbClr val="FFF0E8"/>
          </a:solidFill>
          <a:ln/>
        </p:spPr>
      </p:sp>
      <p:pic>
        <p:nvPicPr>
          <p:cNvPr id="11" name="Image 1" descr="PAN">    </p:cNvPr>
          <p:cNvPicPr>
            <a:picLocks noChangeAspect="1"/>
          </p:cNvPicPr>
          <p:nvPr/>
        </p:nvPicPr>
        <p:blipFill>
          <a:blip r:embed="rId2"/>
          <a:stretch>
            <a:fillRect/>
          </a:stretch>
        </p:blipFill>
        <p:spPr>
          <a:xfrm>
            <a:off x="3307019" y="2962656"/>
            <a:ext cx="338328" cy="338328"/>
          </a:xfrm>
          <a:prstGeom prst="rect">
            <a:avLst/>
          </a:prstGeom>
        </p:spPr>
      </p:pic>
      <p:sp>
        <p:nvSpPr>
          <p:cNvPr id="12" name="Text 8"/>
          <p:cNvSpPr txBox="1"/>
          <p:nvPr/>
        </p:nvSpPr>
        <p:spPr>
          <a:xfrm>
            <a:off x="3179003" y="3566160"/>
            <a:ext cx="1487363" cy="411480"/>
          </a:xfrm>
          <a:prstGeom prst="rect">
            <a:avLst/>
          </a:prstGeom>
          <a:noFill/>
          <a:ln/>
        </p:spPr>
        <p:txBody>
          <a:bodyPr wrap="square" lIns="0" tIns="0" rIns="0" bIns="0" rtlCol="0" anchor="t"/>
          <a:lstStyle/>
          <a:p>
            <a:pPr indent="0" marL="0">
              <a:buNone/>
            </a:pPr>
            <a:r>
              <a:rPr lang="en-US" sz="1800" b="1" dirty="0">
                <a:solidFill>
                  <a:srgbClr val="14131C"/>
                </a:solidFill>
                <a:latin typeface="Arial" pitchFamily="34" charset="0"/>
                <a:ea typeface="Arial" pitchFamily="34" charset="-122"/>
                <a:cs typeface="Arial" pitchFamily="34" charset="-120"/>
              </a:rPr>
              <a:t>PAN</a:t>
            </a:r>
            <a:endParaRPr lang="en-US" sz="1800" dirty="0"/>
          </a:p>
        </p:txBody>
      </p:sp>
      <p:sp>
        <p:nvSpPr>
          <p:cNvPr id="13" name="Text 9"/>
          <p:cNvSpPr txBox="1"/>
          <p:nvPr/>
        </p:nvSpPr>
        <p:spPr>
          <a:xfrm>
            <a:off x="3179003" y="4023360"/>
            <a:ext cx="1487363" cy="960120"/>
          </a:xfrm>
          <a:prstGeom prst="rect">
            <a:avLst/>
          </a:prstGeom>
          <a:noFill/>
          <a:ln/>
        </p:spPr>
        <p:txBody>
          <a:bodyPr wrap="square" lIns="0" tIns="0" rIns="0" bIns="0" rtlCol="0" anchor="t"/>
          <a:lstStyle/>
          <a:p>
            <a:pPr indent="0" marL="0">
              <a:buNone/>
            </a:pPr>
            <a:r>
              <a:rPr lang="en-US" sz="1300" dirty="0">
                <a:solidFill>
                  <a:srgbClr val="4A4858"/>
                </a:solidFill>
                <a:latin typeface="Calibri" pitchFamily="34" charset="0"/>
                <a:ea typeface="Calibri" pitchFamily="34" charset="-122"/>
                <a:cs typeface="Calibri" pitchFamily="34" charset="-120"/>
              </a:rPr>
              <a:t>Valid with Income Tax and same name as Aadhaar.</a:t>
            </a:r>
            <a:endParaRPr lang="en-US" sz="1300" dirty="0"/>
          </a:p>
        </p:txBody>
      </p:sp>
      <p:sp>
        <p:nvSpPr>
          <p:cNvPr id="14" name="Check 3"/>
          <p:cNvSpPr/>
          <p:nvPr/>
        </p:nvSpPr>
        <p:spPr>
          <a:xfrm>
            <a:off x="5123566" y="2560320"/>
            <a:ext cx="1944563" cy="2514600"/>
          </a:xfrm>
          <a:prstGeom prst="roundRect">
            <a:avLst>
              <a:gd name="adj" fmla="val 5643"/>
            </a:avLst>
          </a:prstGeom>
          <a:solidFill>
            <a:srgbClr val="FFFFFF"/>
          </a:solidFill>
          <a:ln w="12700">
            <a:solidFill>
              <a:srgbClr val="E4E0D8"/>
            </a:solidFill>
            <a:prstDash val="solid"/>
          </a:ln>
        </p:spPr>
      </p:sp>
      <p:sp>
        <p:nvSpPr>
          <p:cNvPr id="15" name="Shape 11"/>
          <p:cNvSpPr/>
          <p:nvPr/>
        </p:nvSpPr>
        <p:spPr>
          <a:xfrm>
            <a:off x="5352166" y="2834640"/>
            <a:ext cx="594360" cy="594360"/>
          </a:xfrm>
          <a:prstGeom prst="ellipse">
            <a:avLst/>
          </a:prstGeom>
          <a:solidFill>
            <a:srgbClr val="FFF0E8"/>
          </a:solidFill>
          <a:ln/>
        </p:spPr>
      </p:sp>
      <p:pic>
        <p:nvPicPr>
          <p:cNvPr id="16" name="Image 2" descr="Live selfie">    </p:cNvPr>
          <p:cNvPicPr>
            <a:picLocks noChangeAspect="1"/>
          </p:cNvPicPr>
          <p:nvPr/>
        </p:nvPicPr>
        <p:blipFill>
          <a:blip r:embed="rId3"/>
          <a:stretch>
            <a:fillRect/>
          </a:stretch>
        </p:blipFill>
        <p:spPr>
          <a:xfrm>
            <a:off x="5480182" y="2962656"/>
            <a:ext cx="338328" cy="338328"/>
          </a:xfrm>
          <a:prstGeom prst="rect">
            <a:avLst/>
          </a:prstGeom>
        </p:spPr>
      </p:pic>
      <p:sp>
        <p:nvSpPr>
          <p:cNvPr id="17" name="Text 12"/>
          <p:cNvSpPr txBox="1"/>
          <p:nvPr/>
        </p:nvSpPr>
        <p:spPr>
          <a:xfrm>
            <a:off x="5352166" y="3566160"/>
            <a:ext cx="1487363" cy="411480"/>
          </a:xfrm>
          <a:prstGeom prst="rect">
            <a:avLst/>
          </a:prstGeom>
          <a:noFill/>
          <a:ln/>
        </p:spPr>
        <p:txBody>
          <a:bodyPr wrap="square" lIns="0" tIns="0" rIns="0" bIns="0" rtlCol="0" anchor="t"/>
          <a:lstStyle/>
          <a:p>
            <a:pPr indent="0" marL="0">
              <a:buNone/>
            </a:pPr>
            <a:r>
              <a:rPr lang="en-US" sz="1800" b="1" dirty="0">
                <a:solidFill>
                  <a:srgbClr val="14131C"/>
                </a:solidFill>
                <a:latin typeface="Arial" pitchFamily="34" charset="0"/>
                <a:ea typeface="Arial" pitchFamily="34" charset="-122"/>
                <a:cs typeface="Arial" pitchFamily="34" charset="-120"/>
              </a:rPr>
              <a:t>Live selfie</a:t>
            </a:r>
            <a:endParaRPr lang="en-US" sz="1800" dirty="0"/>
          </a:p>
        </p:txBody>
      </p:sp>
      <p:sp>
        <p:nvSpPr>
          <p:cNvPr id="18" name="Text 13"/>
          <p:cNvSpPr txBox="1"/>
          <p:nvPr/>
        </p:nvSpPr>
        <p:spPr>
          <a:xfrm>
            <a:off x="5352166" y="4023360"/>
            <a:ext cx="1487363" cy="960120"/>
          </a:xfrm>
          <a:prstGeom prst="rect">
            <a:avLst/>
          </a:prstGeom>
          <a:noFill/>
          <a:ln/>
        </p:spPr>
        <p:txBody>
          <a:bodyPr wrap="square" lIns="0" tIns="0" rIns="0" bIns="0" rtlCol="0" anchor="t"/>
          <a:lstStyle/>
          <a:p>
            <a:pPr indent="0" marL="0">
              <a:buNone/>
            </a:pPr>
            <a:r>
              <a:rPr lang="en-US" sz="1300" dirty="0">
                <a:solidFill>
                  <a:srgbClr val="4A4858"/>
                </a:solidFill>
                <a:latin typeface="Calibri" pitchFamily="34" charset="0"/>
                <a:ea typeface="Calibri" pitchFamily="34" charset="-122"/>
                <a:cs typeface="Calibri" pitchFamily="34" charset="-120"/>
              </a:rPr>
              <a:t>A live face that matches the Aadhaar photo.</a:t>
            </a:r>
            <a:endParaRPr lang="en-US" sz="1300" dirty="0"/>
          </a:p>
        </p:txBody>
      </p:sp>
      <p:sp>
        <p:nvSpPr>
          <p:cNvPr id="19" name="Check 4"/>
          <p:cNvSpPr/>
          <p:nvPr/>
        </p:nvSpPr>
        <p:spPr>
          <a:xfrm>
            <a:off x="7296729" y="2560320"/>
            <a:ext cx="1944563" cy="2514600"/>
          </a:xfrm>
          <a:prstGeom prst="roundRect">
            <a:avLst>
              <a:gd name="adj" fmla="val 5643"/>
            </a:avLst>
          </a:prstGeom>
          <a:solidFill>
            <a:srgbClr val="FFFFFF"/>
          </a:solidFill>
          <a:ln w="12700">
            <a:solidFill>
              <a:srgbClr val="E4E0D8"/>
            </a:solidFill>
            <a:prstDash val="solid"/>
          </a:ln>
        </p:spPr>
      </p:sp>
      <p:sp>
        <p:nvSpPr>
          <p:cNvPr id="20" name="Shape 15"/>
          <p:cNvSpPr/>
          <p:nvPr/>
        </p:nvSpPr>
        <p:spPr>
          <a:xfrm>
            <a:off x="7525329" y="2834640"/>
            <a:ext cx="594360" cy="594360"/>
          </a:xfrm>
          <a:prstGeom prst="ellipse">
            <a:avLst/>
          </a:prstGeom>
          <a:solidFill>
            <a:srgbClr val="FFF0E8"/>
          </a:solidFill>
          <a:ln/>
        </p:spPr>
      </p:sp>
      <p:pic>
        <p:nvPicPr>
          <p:cNvPr id="21" name="Image 3" descr="Bank">    </p:cNvPr>
          <p:cNvPicPr>
            <a:picLocks noChangeAspect="1"/>
          </p:cNvPicPr>
          <p:nvPr/>
        </p:nvPicPr>
        <p:blipFill>
          <a:blip r:embed="rId4"/>
          <a:stretch>
            <a:fillRect/>
          </a:stretch>
        </p:blipFill>
        <p:spPr>
          <a:xfrm>
            <a:off x="7653345" y="2962656"/>
            <a:ext cx="338328" cy="338328"/>
          </a:xfrm>
          <a:prstGeom prst="rect">
            <a:avLst/>
          </a:prstGeom>
        </p:spPr>
      </p:pic>
      <p:sp>
        <p:nvSpPr>
          <p:cNvPr id="22" name="Text 16"/>
          <p:cNvSpPr txBox="1"/>
          <p:nvPr/>
        </p:nvSpPr>
        <p:spPr>
          <a:xfrm>
            <a:off x="7525329" y="3566160"/>
            <a:ext cx="1487363" cy="411480"/>
          </a:xfrm>
          <a:prstGeom prst="rect">
            <a:avLst/>
          </a:prstGeom>
          <a:noFill/>
          <a:ln/>
        </p:spPr>
        <p:txBody>
          <a:bodyPr wrap="square" lIns="0" tIns="0" rIns="0" bIns="0" rtlCol="0" anchor="t"/>
          <a:lstStyle/>
          <a:p>
            <a:pPr indent="0" marL="0">
              <a:buNone/>
            </a:pPr>
            <a:r>
              <a:rPr lang="en-US" sz="1800" b="1" dirty="0">
                <a:solidFill>
                  <a:srgbClr val="14131C"/>
                </a:solidFill>
                <a:latin typeface="Arial" pitchFamily="34" charset="0"/>
                <a:ea typeface="Arial" pitchFamily="34" charset="-122"/>
                <a:cs typeface="Arial" pitchFamily="34" charset="-120"/>
              </a:rPr>
              <a:t>Bank</a:t>
            </a:r>
            <a:endParaRPr lang="en-US" sz="1800" dirty="0"/>
          </a:p>
        </p:txBody>
      </p:sp>
      <p:sp>
        <p:nvSpPr>
          <p:cNvPr id="23" name="Text 17"/>
          <p:cNvSpPr txBox="1"/>
          <p:nvPr/>
        </p:nvSpPr>
        <p:spPr>
          <a:xfrm>
            <a:off x="7525329" y="4023360"/>
            <a:ext cx="1487363" cy="960120"/>
          </a:xfrm>
          <a:prstGeom prst="rect">
            <a:avLst/>
          </a:prstGeom>
          <a:noFill/>
          <a:ln/>
        </p:spPr>
        <p:txBody>
          <a:bodyPr wrap="square" lIns="0" tIns="0" rIns="0" bIns="0" rtlCol="0" anchor="t"/>
          <a:lstStyle/>
          <a:p>
            <a:pPr indent="0" marL="0">
              <a:buNone/>
            </a:pPr>
            <a:r>
              <a:rPr lang="en-US" sz="1300" dirty="0">
                <a:solidFill>
                  <a:srgbClr val="4A4858"/>
                </a:solidFill>
                <a:latin typeface="Calibri" pitchFamily="34" charset="0"/>
                <a:ea typeface="Calibri" pitchFamily="34" charset="-122"/>
                <a:cs typeface="Calibri" pitchFamily="34" charset="-120"/>
              </a:rPr>
              <a:t>Account in the owner's own name; becomes the payout account.</a:t>
            </a:r>
            <a:endParaRPr lang="en-US" sz="1300" dirty="0"/>
          </a:p>
        </p:txBody>
      </p:sp>
      <p:sp>
        <p:nvSpPr>
          <p:cNvPr id="24" name="Check 5"/>
          <p:cNvSpPr/>
          <p:nvPr/>
        </p:nvSpPr>
        <p:spPr>
          <a:xfrm>
            <a:off x="9469892" y="2560320"/>
            <a:ext cx="1944563" cy="2514600"/>
          </a:xfrm>
          <a:prstGeom prst="roundRect">
            <a:avLst>
              <a:gd name="adj" fmla="val 5643"/>
            </a:avLst>
          </a:prstGeom>
          <a:solidFill>
            <a:srgbClr val="FFFFFF"/>
          </a:solidFill>
          <a:ln w="12700">
            <a:solidFill>
              <a:srgbClr val="E4E0D8"/>
            </a:solidFill>
            <a:prstDash val="solid"/>
          </a:ln>
        </p:spPr>
      </p:sp>
      <p:sp>
        <p:nvSpPr>
          <p:cNvPr id="25" name="Shape 19"/>
          <p:cNvSpPr/>
          <p:nvPr/>
        </p:nvSpPr>
        <p:spPr>
          <a:xfrm>
            <a:off x="9698492" y="2834640"/>
            <a:ext cx="594360" cy="594360"/>
          </a:xfrm>
          <a:prstGeom prst="ellipse">
            <a:avLst/>
          </a:prstGeom>
          <a:solidFill>
            <a:srgbClr val="FFF0E8"/>
          </a:solidFill>
          <a:ln/>
        </p:spPr>
      </p:sp>
      <p:pic>
        <p:nvPicPr>
          <p:cNvPr id="26" name="Image 4" descr="Property">    </p:cNvPr>
          <p:cNvPicPr>
            <a:picLocks noChangeAspect="1"/>
          </p:cNvPicPr>
          <p:nvPr/>
        </p:nvPicPr>
        <p:blipFill>
          <a:blip r:embed="rId5"/>
          <a:stretch>
            <a:fillRect/>
          </a:stretch>
        </p:blipFill>
        <p:spPr>
          <a:xfrm>
            <a:off x="9826508" y="2962656"/>
            <a:ext cx="338328" cy="338328"/>
          </a:xfrm>
          <a:prstGeom prst="rect">
            <a:avLst/>
          </a:prstGeom>
        </p:spPr>
      </p:pic>
      <p:sp>
        <p:nvSpPr>
          <p:cNvPr id="27" name="Text 20"/>
          <p:cNvSpPr txBox="1"/>
          <p:nvPr/>
        </p:nvSpPr>
        <p:spPr>
          <a:xfrm>
            <a:off x="9698492" y="3566160"/>
            <a:ext cx="1487363" cy="411480"/>
          </a:xfrm>
          <a:prstGeom prst="rect">
            <a:avLst/>
          </a:prstGeom>
          <a:noFill/>
          <a:ln/>
        </p:spPr>
        <p:txBody>
          <a:bodyPr wrap="square" lIns="0" tIns="0" rIns="0" bIns="0" rtlCol="0" anchor="t"/>
          <a:lstStyle/>
          <a:p>
            <a:pPr indent="0" marL="0">
              <a:buNone/>
            </a:pPr>
            <a:r>
              <a:rPr lang="en-US" sz="1800" b="1" dirty="0">
                <a:solidFill>
                  <a:srgbClr val="14131C"/>
                </a:solidFill>
                <a:latin typeface="Arial" pitchFamily="34" charset="0"/>
                <a:ea typeface="Arial" pitchFamily="34" charset="-122"/>
                <a:cs typeface="Arial" pitchFamily="34" charset="-120"/>
              </a:rPr>
              <a:t>Property</a:t>
            </a:r>
            <a:endParaRPr lang="en-US" sz="1800" dirty="0"/>
          </a:p>
        </p:txBody>
      </p:sp>
      <p:sp>
        <p:nvSpPr>
          <p:cNvPr id="28" name="Text 21"/>
          <p:cNvSpPr txBox="1"/>
          <p:nvPr/>
        </p:nvSpPr>
        <p:spPr>
          <a:xfrm>
            <a:off x="9698492" y="4023360"/>
            <a:ext cx="1487363" cy="960120"/>
          </a:xfrm>
          <a:prstGeom prst="rect">
            <a:avLst/>
          </a:prstGeom>
          <a:noFill/>
          <a:ln/>
        </p:spPr>
        <p:txBody>
          <a:bodyPr wrap="square" lIns="0" tIns="0" rIns="0" bIns="0" rtlCol="0" anchor="t"/>
          <a:lstStyle/>
          <a:p>
            <a:pPr indent="0" marL="0">
              <a:buNone/>
            </a:pPr>
            <a:r>
              <a:rPr lang="en-US" sz="1300" dirty="0">
                <a:solidFill>
                  <a:srgbClr val="4A4858"/>
                </a:solidFill>
                <a:latin typeface="Calibri" pitchFamily="34" charset="0"/>
                <a:ea typeface="Calibri" pitchFamily="34" charset="-122"/>
                <a:cs typeface="Calibri" pitchFamily="34" charset="-120"/>
              </a:rPr>
              <a:t>Bill, tax receipt or rent agreement, reviewed by our team.</a:t>
            </a:r>
            <a:endParaRPr lang="en-US" sz="1300" dirty="0"/>
          </a:p>
        </p:txBody>
      </p:sp>
      <p:sp>
        <p:nvSpPr>
          <p:cNvPr id="29" name="Text 22"/>
          <p:cNvSpPr txBox="1"/>
          <p:nvPr/>
        </p:nvSpPr>
        <p:spPr>
          <a:xfrm>
            <a:off x="777240" y="5349240"/>
            <a:ext cx="10637215" cy="731520"/>
          </a:xfrm>
          <a:prstGeom prst="rect">
            <a:avLst/>
          </a:prstGeom>
          <a:noFill/>
          <a:ln/>
        </p:spPr>
        <p:txBody>
          <a:bodyPr wrap="square" lIns="0" tIns="0" rIns="0" bIns="0" rtlCol="0" anchor="t"/>
          <a:lstStyle/>
          <a:p>
            <a:pPr indent="0" marL="0">
              <a:buNone/>
            </a:pPr>
            <a:r>
              <a:rPr lang="en-US" sz="1600" dirty="0">
                <a:solidFill>
                  <a:srgbClr val="4A4858"/>
                </a:solidFill>
                <a:latin typeface="Calibri" pitchFamily="34" charset="0"/>
                <a:ea typeface="Calibri" pitchFamily="34" charset="-122"/>
                <a:cs typeface="Calibri" pitchFamily="34" charset="-120"/>
              </a:rPr>
              <a:t>Checks run through </a:t>
            </a:r>
            <a:pPr indent="0" marL="0">
              <a:buNone/>
            </a:pPr>
            <a:r>
              <a:rPr lang="en-US" sz="1600" b="1" dirty="0">
                <a:solidFill>
                  <a:srgbClr val="14131C"/>
                </a:solidFill>
                <a:latin typeface="Calibri" pitchFamily="34" charset="0"/>
                <a:ea typeface="Calibri" pitchFamily="34" charset="-122"/>
                <a:cs typeface="Calibri" pitchFamily="34" charset="-120"/>
              </a:rPr>
              <a:t>Cashfree Secure ID</a:t>
            </a:r>
            <a:pPr indent="0" marL="0">
              <a:buNone/>
            </a:pPr>
            <a:r>
              <a:rPr lang="en-US" sz="1600" dirty="0">
                <a:solidFill>
                  <a:srgbClr val="4A4858"/>
                </a:solidFill>
                <a:latin typeface="Calibri" pitchFamily="34" charset="0"/>
                <a:ea typeface="Calibri" pitchFamily="34" charset="-122"/>
                <a:cs typeface="Calibri" pitchFamily="34" charset="-120"/>
              </a:rPr>
              <a:t>. Names are cross-matched, one PAN cannot back two owner accounts, and an admin approves or sends back with a reason.</a:t>
            </a:r>
            <a:endParaRPr lang="en-US" sz="1600" dirty="0"/>
          </a:p>
        </p:txBody>
      </p:sp>
      <p:sp>
        <p:nvSpPr>
          <p:cNvPr id="25" name="Slide Number Placeholder 0"/>
          <p:cNvSpPr>
            <a:spLocks noGrp="1"/>
          </p:cNvSpPr>
          <p:nvPr>
            <p:ph type="sldNum" sz="quarter" idx="4294967295"/>
          </p:nvPr>
        </p:nvSpPr>
        <p:spPr>
          <a:xfrm>
            <a:off x="108658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C84A1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777240" y="640080"/>
            <a:ext cx="10637215" cy="365760"/>
          </a:xfrm>
          <a:prstGeom prst="rect">
            <a:avLst/>
          </a:prstGeom>
          <a:noFill/>
          <a:ln/>
        </p:spPr>
        <p:txBody>
          <a:bodyPr wrap="square" lIns="0" tIns="0" rIns="0" bIns="0" rtlCol="0" anchor="t"/>
          <a:lstStyle/>
          <a:p>
            <a:pPr algn="l" indent="0" marL="0">
              <a:buNone/>
            </a:pPr>
            <a:r>
              <a:rPr lang="en-US" sz="1400" b="1" spc="300" kern="0" dirty="0">
                <a:solidFill>
                  <a:srgbClr val="FF8A57"/>
                </a:solidFill>
              </a:rPr>
              <a:t>PRICING &amp; PAYMENTS</a:t>
            </a:r>
            <a:endParaRPr lang="en-US" sz="1400" dirty="0"/>
          </a:p>
        </p:txBody>
      </p:sp>
      <p:sp>
        <p:nvSpPr>
          <p:cNvPr id="3" name="Text 0"/>
          <p:cNvSpPr/>
          <p:nvPr>
            <p:ph idx="101" type="title" hasCustomPrompt="1"/>
          </p:nvPr>
        </p:nvSpPr>
        <p:spPr>
          <a:xfrm>
            <a:off x="777240" y="1005840"/>
            <a:ext cx="10637215" cy="1371600"/>
          </a:xfrm>
          <a:prstGeom prst="rect">
            <a:avLst/>
          </a:prstGeom>
          <a:noFill/>
          <a:ln/>
        </p:spPr>
        <p:txBody>
          <a:bodyPr wrap="square" lIns="0" tIns="0" rIns="0" bIns="0" rtlCol="0" anchor="t"/>
          <a:lstStyle/>
          <a:p>
            <a:pPr algn="l" indent="0" marL="0">
              <a:buNone/>
            </a:pPr>
            <a:r>
              <a:rPr lang="en-US" sz="4000" b="1" dirty="0">
                <a:solidFill>
                  <a:srgbClr val="F7F5F0"/>
                </a:solidFill>
                <a:latin typeface="Arial" pitchFamily="34" charset="0"/>
                <a:ea typeface="Arial" pitchFamily="34" charset="-122"/>
                <a:cs typeface="Arial" pitchFamily="34" charset="-120"/>
              </a:rPr>
              <a:t>Fair prices, and money that can't go missing</a:t>
            </a:r>
            <a:endParaRPr lang="en-US" sz="4000" dirty="0"/>
          </a:p>
        </p:txBody>
      </p:sp>
      <p:sp>
        <p:nvSpPr>
          <p:cNvPr id="4" name="Shape 2"/>
          <p:cNvSpPr/>
          <p:nvPr/>
        </p:nvSpPr>
        <p:spPr>
          <a:xfrm>
            <a:off x="777240" y="2834640"/>
            <a:ext cx="731520" cy="731520"/>
          </a:xfrm>
          <a:prstGeom prst="ellipse">
            <a:avLst/>
          </a:prstGeom>
          <a:solidFill>
            <a:srgbClr val="FF6B2C"/>
          </a:solidFill>
          <a:ln/>
        </p:spPr>
      </p:sp>
      <p:pic>
        <p:nvPicPr>
          <p:cNvPr id="5" name="Image 0" descr="Dynamic pricing">    </p:cNvPr>
          <p:cNvPicPr>
            <a:picLocks noChangeAspect="1"/>
          </p:cNvPicPr>
          <p:nvPr/>
        </p:nvPicPr>
        <p:blipFill>
          <a:blip r:embed="rId1"/>
          <a:stretch>
            <a:fillRect/>
          </a:stretch>
        </p:blipFill>
        <p:spPr>
          <a:xfrm>
            <a:off x="941832" y="2999232"/>
            <a:ext cx="402336" cy="402336"/>
          </a:xfrm>
          <a:prstGeom prst="rect">
            <a:avLst/>
          </a:prstGeom>
        </p:spPr>
      </p:pic>
      <p:sp>
        <p:nvSpPr>
          <p:cNvPr id="6" name="Text 3"/>
          <p:cNvSpPr txBox="1"/>
          <p:nvPr/>
        </p:nvSpPr>
        <p:spPr>
          <a:xfrm>
            <a:off x="777240" y="3840480"/>
            <a:ext cx="3271418" cy="777240"/>
          </a:xfrm>
          <a:prstGeom prst="rect">
            <a:avLst/>
          </a:prstGeom>
          <a:noFill/>
          <a:ln/>
        </p:spPr>
        <p:txBody>
          <a:bodyPr wrap="square" lIns="0" tIns="0" rIns="0" bIns="0" rtlCol="0" anchor="t"/>
          <a:lstStyle/>
          <a:p>
            <a:pPr indent="0" marL="0">
              <a:buNone/>
            </a:pPr>
            <a:r>
              <a:rPr lang="en-US" sz="2200" b="1" dirty="0">
                <a:solidFill>
                  <a:srgbClr val="F7F5F0"/>
                </a:solidFill>
                <a:latin typeface="Arial" pitchFamily="34" charset="0"/>
                <a:ea typeface="Arial" pitchFamily="34" charset="-122"/>
                <a:cs typeface="Arial" pitchFamily="34" charset="-120"/>
              </a:rPr>
              <a:t>Dynamic pricing</a:t>
            </a:r>
            <a:endParaRPr lang="en-US" sz="2200" dirty="0"/>
          </a:p>
        </p:txBody>
      </p:sp>
      <p:sp>
        <p:nvSpPr>
          <p:cNvPr id="7" name="Text 4"/>
          <p:cNvSpPr txBox="1"/>
          <p:nvPr/>
        </p:nvSpPr>
        <p:spPr>
          <a:xfrm>
            <a:off x="777240" y="4663440"/>
            <a:ext cx="3271418" cy="1188720"/>
          </a:xfrm>
          <a:prstGeom prst="rect">
            <a:avLst/>
          </a:prstGeom>
          <a:noFill/>
          <a:ln/>
        </p:spPr>
        <p:txBody>
          <a:bodyPr wrap="square" lIns="0" tIns="0" rIns="0" bIns="0" rtlCol="0" anchor="t"/>
          <a:lstStyle/>
          <a:p>
            <a:pPr indent="0" marL="0">
              <a:buNone/>
            </a:pPr>
            <a:r>
              <a:rPr lang="en-US" sz="1600" dirty="0">
                <a:solidFill>
                  <a:srgbClr val="B9B6C4"/>
                </a:solidFill>
                <a:latin typeface="Calibri" pitchFamily="34" charset="0"/>
                <a:ea typeface="Calibri" pitchFamily="34" charset="-122"/>
                <a:cs typeface="Calibri" pitchFamily="34" charset="-120"/>
              </a:rPr>
              <a:t>Time of day, location and area demand, plus a surge as a spot fills up.</a:t>
            </a:r>
            <a:endParaRPr lang="en-US" sz="1600" dirty="0"/>
          </a:p>
        </p:txBody>
      </p:sp>
      <p:sp>
        <p:nvSpPr>
          <p:cNvPr id="8" name="Shape 5"/>
          <p:cNvSpPr/>
          <p:nvPr/>
        </p:nvSpPr>
        <p:spPr>
          <a:xfrm>
            <a:off x="4460138" y="2834640"/>
            <a:ext cx="731520" cy="731520"/>
          </a:xfrm>
          <a:prstGeom prst="ellipse">
            <a:avLst/>
          </a:prstGeom>
          <a:solidFill>
            <a:srgbClr val="FF6B2C"/>
          </a:solidFill>
          <a:ln/>
        </p:spPr>
      </p:sp>
      <p:pic>
        <p:nvPicPr>
          <p:cNvPr id="9" name="Image 1" descr="Server-verified payments">    </p:cNvPr>
          <p:cNvPicPr>
            <a:picLocks noChangeAspect="1"/>
          </p:cNvPicPr>
          <p:nvPr/>
        </p:nvPicPr>
        <p:blipFill>
          <a:blip r:embed="rId2"/>
          <a:stretch>
            <a:fillRect/>
          </a:stretch>
        </p:blipFill>
        <p:spPr>
          <a:xfrm>
            <a:off x="4624730" y="2999232"/>
            <a:ext cx="402336" cy="402336"/>
          </a:xfrm>
          <a:prstGeom prst="rect">
            <a:avLst/>
          </a:prstGeom>
        </p:spPr>
      </p:pic>
      <p:sp>
        <p:nvSpPr>
          <p:cNvPr id="10" name="Text 6"/>
          <p:cNvSpPr txBox="1"/>
          <p:nvPr/>
        </p:nvSpPr>
        <p:spPr>
          <a:xfrm>
            <a:off x="4460138" y="3840480"/>
            <a:ext cx="3271418" cy="777240"/>
          </a:xfrm>
          <a:prstGeom prst="rect">
            <a:avLst/>
          </a:prstGeom>
          <a:noFill/>
          <a:ln/>
        </p:spPr>
        <p:txBody>
          <a:bodyPr wrap="square" lIns="0" tIns="0" rIns="0" bIns="0" rtlCol="0" anchor="t"/>
          <a:lstStyle/>
          <a:p>
            <a:pPr indent="0" marL="0">
              <a:buNone/>
            </a:pPr>
            <a:r>
              <a:rPr lang="en-US" sz="2200" b="1" dirty="0">
                <a:solidFill>
                  <a:srgbClr val="F7F5F0"/>
                </a:solidFill>
                <a:latin typeface="Arial" pitchFamily="34" charset="0"/>
                <a:ea typeface="Arial" pitchFamily="34" charset="-122"/>
                <a:cs typeface="Arial" pitchFamily="34" charset="-120"/>
              </a:rPr>
              <a:t>Server-verified payments</a:t>
            </a:r>
            <a:endParaRPr lang="en-US" sz="2200" dirty="0"/>
          </a:p>
        </p:txBody>
      </p:sp>
      <p:sp>
        <p:nvSpPr>
          <p:cNvPr id="11" name="Text 7"/>
          <p:cNvSpPr txBox="1"/>
          <p:nvPr/>
        </p:nvSpPr>
        <p:spPr>
          <a:xfrm>
            <a:off x="4460138" y="4663440"/>
            <a:ext cx="3271418" cy="1188720"/>
          </a:xfrm>
          <a:prstGeom prst="rect">
            <a:avLst/>
          </a:prstGeom>
          <a:noFill/>
          <a:ln/>
        </p:spPr>
        <p:txBody>
          <a:bodyPr wrap="square" lIns="0" tIns="0" rIns="0" bIns="0" rtlCol="0" anchor="t"/>
          <a:lstStyle/>
          <a:p>
            <a:pPr indent="0" marL="0">
              <a:buNone/>
            </a:pPr>
            <a:r>
              <a:rPr lang="en-US" sz="1600" dirty="0">
                <a:solidFill>
                  <a:srgbClr val="B9B6C4"/>
                </a:solidFill>
                <a:latin typeface="Calibri" pitchFamily="34" charset="0"/>
                <a:ea typeface="Calibri" pitchFamily="34" charset="-122"/>
                <a:cs typeface="Calibri" pitchFamily="34" charset="-120"/>
              </a:rPr>
              <a:t>Every Razorpay payment is checked against its order, booking, driver and amount.</a:t>
            </a:r>
            <a:endParaRPr lang="en-US" sz="1600" dirty="0"/>
          </a:p>
        </p:txBody>
      </p:sp>
      <p:sp>
        <p:nvSpPr>
          <p:cNvPr id="12" name="Shape 8"/>
          <p:cNvSpPr/>
          <p:nvPr/>
        </p:nvSpPr>
        <p:spPr>
          <a:xfrm>
            <a:off x="8143037" y="2834640"/>
            <a:ext cx="731520" cy="731520"/>
          </a:xfrm>
          <a:prstGeom prst="ellipse">
            <a:avLst/>
          </a:prstGeom>
          <a:solidFill>
            <a:srgbClr val="FF6B2C"/>
          </a:solidFill>
          <a:ln/>
        </p:spPr>
      </p:sp>
      <p:pic>
        <p:nvPicPr>
          <p:cNvPr id="13" name="Image 2" descr="Four ways to settle">    </p:cNvPr>
          <p:cNvPicPr>
            <a:picLocks noChangeAspect="1"/>
          </p:cNvPicPr>
          <p:nvPr/>
        </p:nvPicPr>
        <p:blipFill>
          <a:blip r:embed="rId3"/>
          <a:stretch>
            <a:fillRect/>
          </a:stretch>
        </p:blipFill>
        <p:spPr>
          <a:xfrm>
            <a:off x="8307629" y="2999232"/>
            <a:ext cx="402336" cy="402336"/>
          </a:xfrm>
          <a:prstGeom prst="rect">
            <a:avLst/>
          </a:prstGeom>
        </p:spPr>
      </p:pic>
      <p:sp>
        <p:nvSpPr>
          <p:cNvPr id="14" name="Text 9"/>
          <p:cNvSpPr txBox="1"/>
          <p:nvPr/>
        </p:nvSpPr>
        <p:spPr>
          <a:xfrm>
            <a:off x="8143037" y="3840480"/>
            <a:ext cx="3271418" cy="777240"/>
          </a:xfrm>
          <a:prstGeom prst="rect">
            <a:avLst/>
          </a:prstGeom>
          <a:noFill/>
          <a:ln/>
        </p:spPr>
        <p:txBody>
          <a:bodyPr wrap="square" lIns="0" tIns="0" rIns="0" bIns="0" rtlCol="0" anchor="t"/>
          <a:lstStyle/>
          <a:p>
            <a:pPr indent="0" marL="0">
              <a:buNone/>
            </a:pPr>
            <a:r>
              <a:rPr lang="en-US" sz="2200" b="1" dirty="0">
                <a:solidFill>
                  <a:srgbClr val="F7F5F0"/>
                </a:solidFill>
                <a:latin typeface="Arial" pitchFamily="34" charset="0"/>
                <a:ea typeface="Arial" pitchFamily="34" charset="-122"/>
                <a:cs typeface="Arial" pitchFamily="34" charset="-120"/>
              </a:rPr>
              <a:t>Four ways to settle</a:t>
            </a:r>
            <a:endParaRPr lang="en-US" sz="2200" dirty="0"/>
          </a:p>
        </p:txBody>
      </p:sp>
      <p:sp>
        <p:nvSpPr>
          <p:cNvPr id="15" name="Text 10"/>
          <p:cNvSpPr txBox="1"/>
          <p:nvPr/>
        </p:nvSpPr>
        <p:spPr>
          <a:xfrm>
            <a:off x="8143037" y="4663440"/>
            <a:ext cx="3271418" cy="1188720"/>
          </a:xfrm>
          <a:prstGeom prst="rect">
            <a:avLst/>
          </a:prstGeom>
          <a:noFill/>
          <a:ln/>
        </p:spPr>
        <p:txBody>
          <a:bodyPr wrap="square" lIns="0" tIns="0" rIns="0" bIns="0" rtlCol="0" anchor="t"/>
          <a:lstStyle/>
          <a:p>
            <a:pPr indent="0" marL="0">
              <a:buNone/>
            </a:pPr>
            <a:r>
              <a:rPr lang="en-US" sz="1600" dirty="0">
                <a:solidFill>
                  <a:srgbClr val="B9B6C4"/>
                </a:solidFill>
                <a:latin typeface="Calibri" pitchFamily="34" charset="0"/>
                <a:ea typeface="Calibri" pitchFamily="34" charset="-122"/>
                <a:cs typeface="Calibri" pitchFamily="34" charset="-120"/>
              </a:rPr>
              <a:t>Online, cash, unpaid dues carried forward, and failed-payment recovery.</a:t>
            </a:r>
            <a:endParaRPr lang="en-US" sz="1600" dirty="0"/>
          </a:p>
        </p:txBody>
      </p:sp>
      <p:sp>
        <p:nvSpPr>
          <p:cNvPr id="25" name="Slide Number Placeholder 0"/>
          <p:cNvSpPr>
            <a:spLocks noGrp="1"/>
          </p:cNvSpPr>
          <p:nvPr>
            <p:ph type="sldNum" sz="quarter" idx="4294967295"/>
          </p:nvPr>
        </p:nvSpPr>
        <p:spPr>
          <a:xfrm>
            <a:off x="108658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8A57"/>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777240" y="640080"/>
            <a:ext cx="10637215" cy="365760"/>
          </a:xfrm>
          <a:prstGeom prst="rect">
            <a:avLst/>
          </a:prstGeom>
          <a:noFill/>
          <a:ln/>
        </p:spPr>
        <p:txBody>
          <a:bodyPr wrap="square" lIns="0" tIns="0" rIns="0" bIns="0" rtlCol="0" anchor="t"/>
          <a:lstStyle/>
          <a:p>
            <a:pPr algn="l" indent="0" marL="0">
              <a:buNone/>
            </a:pPr>
            <a:r>
              <a:rPr lang="en-US" sz="1400" b="1" spc="300" kern="0" dirty="0">
                <a:solidFill>
                  <a:srgbClr val="C84A12"/>
                </a:solidFill>
              </a:rPr>
              <a:t>ARCHITECTURE</a:t>
            </a:r>
            <a:endParaRPr lang="en-US" sz="1400" dirty="0"/>
          </a:p>
        </p:txBody>
      </p:sp>
      <p:sp>
        <p:nvSpPr>
          <p:cNvPr id="3" name="Text 0"/>
          <p:cNvSpPr/>
          <p:nvPr>
            <p:ph idx="101" type="title" hasCustomPrompt="1"/>
          </p:nvPr>
        </p:nvSpPr>
        <p:spPr>
          <a:xfrm>
            <a:off x="777240" y="1005840"/>
            <a:ext cx="10637215" cy="1371600"/>
          </a:xfrm>
          <a:prstGeom prst="rect">
            <a:avLst/>
          </a:prstGeom>
          <a:noFill/>
          <a:ln/>
        </p:spPr>
        <p:txBody>
          <a:bodyPr wrap="square" lIns="0" tIns="0" rIns="0" bIns="0" rtlCol="0" anchor="t"/>
          <a:lstStyle/>
          <a:p>
            <a:pPr algn="l" indent="0" marL="0">
              <a:buNone/>
            </a:pPr>
            <a:r>
              <a:rPr lang="en-US" sz="4000" b="1" dirty="0">
                <a:solidFill>
                  <a:srgbClr val="14131C"/>
                </a:solidFill>
                <a:latin typeface="Arial" pitchFamily="34" charset="0"/>
                <a:ea typeface="Arial" pitchFamily="34" charset="-122"/>
                <a:cs typeface="Arial" pitchFamily="34" charset="-120"/>
              </a:rPr>
              <a:t>A production stack, end to end</a:t>
            </a:r>
            <a:endParaRPr lang="en-US" sz="4000" dirty="0"/>
          </a:p>
        </p:txBody>
      </p:sp>
      <p:sp>
        <p:nvSpPr>
          <p:cNvPr id="4" name="Layer MOBILE APP"/>
          <p:cNvSpPr/>
          <p:nvPr/>
        </p:nvSpPr>
        <p:spPr>
          <a:xfrm>
            <a:off x="777240" y="2377440"/>
            <a:ext cx="10637215" cy="731520"/>
          </a:xfrm>
          <a:prstGeom prst="roundRect">
            <a:avLst>
              <a:gd name="adj" fmla="val 12500"/>
            </a:avLst>
          </a:prstGeom>
          <a:solidFill>
            <a:srgbClr val="14131C"/>
          </a:solidFill>
          <a:ln/>
        </p:spPr>
      </p:sp>
      <p:sp>
        <p:nvSpPr>
          <p:cNvPr id="5" name="Text 3"/>
          <p:cNvSpPr txBox="1"/>
          <p:nvPr/>
        </p:nvSpPr>
        <p:spPr>
          <a:xfrm>
            <a:off x="1097280" y="2606040"/>
            <a:ext cx="2011680" cy="320040"/>
          </a:xfrm>
          <a:prstGeom prst="rect">
            <a:avLst/>
          </a:prstGeom>
          <a:noFill/>
          <a:ln/>
        </p:spPr>
        <p:txBody>
          <a:bodyPr wrap="square" lIns="0" tIns="0" rIns="0" bIns="0" rtlCol="0" anchor="t"/>
          <a:lstStyle/>
          <a:p>
            <a:pPr indent="0" marL="0">
              <a:buNone/>
            </a:pPr>
            <a:r>
              <a:rPr lang="en-US" sz="1400" b="1" spc="300" kern="0" dirty="0">
                <a:solidFill>
                  <a:srgbClr val="FF8A57"/>
                </a:solidFill>
                <a:latin typeface="Calibri" pitchFamily="34" charset="0"/>
                <a:ea typeface="Calibri" pitchFamily="34" charset="-122"/>
                <a:cs typeface="Calibri" pitchFamily="34" charset="-120"/>
              </a:rPr>
              <a:t>MOBILE APP</a:t>
            </a:r>
            <a:endParaRPr lang="en-US" sz="1400" dirty="0"/>
          </a:p>
        </p:txBody>
      </p:sp>
      <p:sp>
        <p:nvSpPr>
          <p:cNvPr id="6" name="Text 4"/>
          <p:cNvSpPr txBox="1"/>
          <p:nvPr/>
        </p:nvSpPr>
        <p:spPr>
          <a:xfrm>
            <a:off x="3246120" y="2578608"/>
            <a:ext cx="7894015" cy="365760"/>
          </a:xfrm>
          <a:prstGeom prst="rect">
            <a:avLst/>
          </a:prstGeom>
          <a:noFill/>
          <a:ln/>
        </p:spPr>
        <p:txBody>
          <a:bodyPr wrap="square" lIns="0" tIns="0" rIns="0" bIns="0" rtlCol="0" anchor="t"/>
          <a:lstStyle/>
          <a:p>
            <a:pPr indent="0" marL="0">
              <a:buNone/>
            </a:pPr>
            <a:r>
              <a:rPr lang="en-US" sz="1700" dirty="0">
                <a:solidFill>
                  <a:srgbClr val="F7F5F0"/>
                </a:solidFill>
                <a:latin typeface="Calibri" pitchFamily="34" charset="0"/>
                <a:ea typeface="Calibri" pitchFamily="34" charset="-122"/>
                <a:cs typeface="Calibri" pitchFamily="34" charset="-120"/>
              </a:rPr>
              <a:t>React Native · Expo · MapLibre + Ola Maps · live updates over Socket.IO</a:t>
            </a:r>
            <a:endParaRPr lang="en-US" sz="1700" dirty="0"/>
          </a:p>
        </p:txBody>
      </p:sp>
      <p:sp>
        <p:nvSpPr>
          <p:cNvPr id="7" name="Layer API"/>
          <p:cNvSpPr/>
          <p:nvPr/>
        </p:nvSpPr>
        <p:spPr>
          <a:xfrm>
            <a:off x="777240" y="3291840"/>
            <a:ext cx="10637215" cy="731520"/>
          </a:xfrm>
          <a:prstGeom prst="roundRect">
            <a:avLst>
              <a:gd name="adj" fmla="val 12500"/>
            </a:avLst>
          </a:prstGeom>
          <a:solidFill>
            <a:srgbClr val="FFFFFF"/>
          </a:solidFill>
          <a:ln w="12700">
            <a:solidFill>
              <a:srgbClr val="E4E0D8"/>
            </a:solidFill>
            <a:prstDash val="solid"/>
          </a:ln>
        </p:spPr>
      </p:sp>
      <p:sp>
        <p:nvSpPr>
          <p:cNvPr id="8" name="Text 6"/>
          <p:cNvSpPr txBox="1"/>
          <p:nvPr/>
        </p:nvSpPr>
        <p:spPr>
          <a:xfrm>
            <a:off x="1097280" y="3520440"/>
            <a:ext cx="2011680" cy="320040"/>
          </a:xfrm>
          <a:prstGeom prst="rect">
            <a:avLst/>
          </a:prstGeom>
          <a:noFill/>
          <a:ln/>
        </p:spPr>
        <p:txBody>
          <a:bodyPr wrap="square" lIns="0" tIns="0" rIns="0" bIns="0" rtlCol="0" anchor="t"/>
          <a:lstStyle/>
          <a:p>
            <a:pPr indent="0" marL="0">
              <a:buNone/>
            </a:pPr>
            <a:r>
              <a:rPr lang="en-US" sz="1400" b="1" spc="300" kern="0" dirty="0">
                <a:solidFill>
                  <a:srgbClr val="C84A12"/>
                </a:solidFill>
                <a:latin typeface="Calibri" pitchFamily="34" charset="0"/>
                <a:ea typeface="Calibri" pitchFamily="34" charset="-122"/>
                <a:cs typeface="Calibri" pitchFamily="34" charset="-120"/>
              </a:rPr>
              <a:t>API</a:t>
            </a:r>
            <a:endParaRPr lang="en-US" sz="1400" dirty="0"/>
          </a:p>
        </p:txBody>
      </p:sp>
      <p:sp>
        <p:nvSpPr>
          <p:cNvPr id="9" name="Text 7"/>
          <p:cNvSpPr txBox="1"/>
          <p:nvPr/>
        </p:nvSpPr>
        <p:spPr>
          <a:xfrm>
            <a:off x="3246120" y="3493008"/>
            <a:ext cx="7894015" cy="365760"/>
          </a:xfrm>
          <a:prstGeom prst="rect">
            <a:avLst/>
          </a:prstGeom>
          <a:noFill/>
          <a:ln/>
        </p:spPr>
        <p:txBody>
          <a:bodyPr wrap="square" lIns="0" tIns="0" rIns="0" bIns="0" rtlCol="0" anchor="t"/>
          <a:lstStyle/>
          <a:p>
            <a:pPr indent="0" marL="0">
              <a:buNone/>
            </a:pPr>
            <a:r>
              <a:rPr lang="en-US" sz="1700" dirty="0">
                <a:solidFill>
                  <a:srgbClr val="14131C"/>
                </a:solidFill>
                <a:latin typeface="Calibri" pitchFamily="34" charset="0"/>
                <a:ea typeface="Calibri" pitchFamily="34" charset="-122"/>
                <a:cs typeface="Calibri" pitchFamily="34" charset="-120"/>
              </a:rPr>
              <a:t>Node.js · Express · versioned REST API · rate limiting · hosted on Railway</a:t>
            </a:r>
            <a:endParaRPr lang="en-US" sz="1700" dirty="0"/>
          </a:p>
        </p:txBody>
      </p:sp>
      <p:sp>
        <p:nvSpPr>
          <p:cNvPr id="10" name="Layer DATA"/>
          <p:cNvSpPr/>
          <p:nvPr/>
        </p:nvSpPr>
        <p:spPr>
          <a:xfrm>
            <a:off x="777240" y="4206240"/>
            <a:ext cx="10637215" cy="731520"/>
          </a:xfrm>
          <a:prstGeom prst="roundRect">
            <a:avLst>
              <a:gd name="adj" fmla="val 12500"/>
            </a:avLst>
          </a:prstGeom>
          <a:solidFill>
            <a:srgbClr val="FFFFFF"/>
          </a:solidFill>
          <a:ln w="12700">
            <a:solidFill>
              <a:srgbClr val="E4E0D8"/>
            </a:solidFill>
            <a:prstDash val="solid"/>
          </a:ln>
        </p:spPr>
      </p:sp>
      <p:sp>
        <p:nvSpPr>
          <p:cNvPr id="11" name="Text 9"/>
          <p:cNvSpPr txBox="1"/>
          <p:nvPr/>
        </p:nvSpPr>
        <p:spPr>
          <a:xfrm>
            <a:off x="1097280" y="4434840"/>
            <a:ext cx="2011680" cy="320040"/>
          </a:xfrm>
          <a:prstGeom prst="rect">
            <a:avLst/>
          </a:prstGeom>
          <a:noFill/>
          <a:ln/>
        </p:spPr>
        <p:txBody>
          <a:bodyPr wrap="square" lIns="0" tIns="0" rIns="0" bIns="0" rtlCol="0" anchor="t"/>
          <a:lstStyle/>
          <a:p>
            <a:pPr indent="0" marL="0">
              <a:buNone/>
            </a:pPr>
            <a:r>
              <a:rPr lang="en-US" sz="1400" b="1" spc="300" kern="0" dirty="0">
                <a:solidFill>
                  <a:srgbClr val="C84A12"/>
                </a:solidFill>
                <a:latin typeface="Calibri" pitchFamily="34" charset="0"/>
                <a:ea typeface="Calibri" pitchFamily="34" charset="-122"/>
                <a:cs typeface="Calibri" pitchFamily="34" charset="-120"/>
              </a:rPr>
              <a:t>DATA</a:t>
            </a:r>
            <a:endParaRPr lang="en-US" sz="1400" dirty="0"/>
          </a:p>
        </p:txBody>
      </p:sp>
      <p:sp>
        <p:nvSpPr>
          <p:cNvPr id="12" name="Text 10"/>
          <p:cNvSpPr txBox="1"/>
          <p:nvPr/>
        </p:nvSpPr>
        <p:spPr>
          <a:xfrm>
            <a:off x="3246120" y="4407408"/>
            <a:ext cx="7894015" cy="365760"/>
          </a:xfrm>
          <a:prstGeom prst="rect">
            <a:avLst/>
          </a:prstGeom>
          <a:noFill/>
          <a:ln/>
        </p:spPr>
        <p:txBody>
          <a:bodyPr wrap="square" lIns="0" tIns="0" rIns="0" bIns="0" rtlCol="0" anchor="t"/>
          <a:lstStyle/>
          <a:p>
            <a:pPr indent="0" marL="0">
              <a:buNone/>
            </a:pPr>
            <a:r>
              <a:rPr lang="en-US" sz="1700" dirty="0">
                <a:solidFill>
                  <a:srgbClr val="14131C"/>
                </a:solidFill>
                <a:latin typeface="Calibri" pitchFamily="34" charset="0"/>
                <a:ea typeface="Calibri" pitchFamily="34" charset="-122"/>
                <a:cs typeface="Calibri" pitchFamily="34" charset="-120"/>
              </a:rPr>
              <a:t>PostgreSQL · Prisma · row-level locks so a bay can never be double-booked</a:t>
            </a:r>
            <a:endParaRPr lang="en-US" sz="1700" dirty="0"/>
          </a:p>
        </p:txBody>
      </p:sp>
      <p:sp>
        <p:nvSpPr>
          <p:cNvPr id="13" name="Layer PARTNERS"/>
          <p:cNvSpPr/>
          <p:nvPr/>
        </p:nvSpPr>
        <p:spPr>
          <a:xfrm>
            <a:off x="777240" y="5120640"/>
            <a:ext cx="10637215" cy="731520"/>
          </a:xfrm>
          <a:prstGeom prst="roundRect">
            <a:avLst>
              <a:gd name="adj" fmla="val 12500"/>
            </a:avLst>
          </a:prstGeom>
          <a:solidFill>
            <a:srgbClr val="FFF0E8"/>
          </a:solidFill>
          <a:ln w="12700">
            <a:solidFill>
              <a:srgbClr val="F6C9B2"/>
            </a:solidFill>
            <a:prstDash val="solid"/>
          </a:ln>
        </p:spPr>
      </p:sp>
      <p:sp>
        <p:nvSpPr>
          <p:cNvPr id="14" name="Text 12"/>
          <p:cNvSpPr txBox="1"/>
          <p:nvPr/>
        </p:nvSpPr>
        <p:spPr>
          <a:xfrm>
            <a:off x="1097280" y="5349240"/>
            <a:ext cx="2011680" cy="320040"/>
          </a:xfrm>
          <a:prstGeom prst="rect">
            <a:avLst/>
          </a:prstGeom>
          <a:noFill/>
          <a:ln/>
        </p:spPr>
        <p:txBody>
          <a:bodyPr wrap="square" lIns="0" tIns="0" rIns="0" bIns="0" rtlCol="0" anchor="t"/>
          <a:lstStyle/>
          <a:p>
            <a:pPr indent="0" marL="0">
              <a:buNone/>
            </a:pPr>
            <a:r>
              <a:rPr lang="en-US" sz="1400" b="1" spc="300" kern="0" dirty="0">
                <a:solidFill>
                  <a:srgbClr val="C84A12"/>
                </a:solidFill>
                <a:latin typeface="Calibri" pitchFamily="34" charset="0"/>
                <a:ea typeface="Calibri" pitchFamily="34" charset="-122"/>
                <a:cs typeface="Calibri" pitchFamily="34" charset="-120"/>
              </a:rPr>
              <a:t>PARTNERS</a:t>
            </a:r>
            <a:endParaRPr lang="en-US" sz="1400" dirty="0"/>
          </a:p>
        </p:txBody>
      </p:sp>
      <p:sp>
        <p:nvSpPr>
          <p:cNvPr id="15" name="Text 13"/>
          <p:cNvSpPr txBox="1"/>
          <p:nvPr/>
        </p:nvSpPr>
        <p:spPr>
          <a:xfrm>
            <a:off x="3246120" y="5321808"/>
            <a:ext cx="7894015" cy="365760"/>
          </a:xfrm>
          <a:prstGeom prst="rect">
            <a:avLst/>
          </a:prstGeom>
          <a:noFill/>
          <a:ln/>
        </p:spPr>
        <p:txBody>
          <a:bodyPr wrap="square" lIns="0" tIns="0" rIns="0" bIns="0" rtlCol="0" anchor="t"/>
          <a:lstStyle/>
          <a:p>
            <a:pPr indent="0" marL="0">
              <a:buNone/>
            </a:pPr>
            <a:r>
              <a:rPr lang="en-US" sz="1700" dirty="0">
                <a:solidFill>
                  <a:srgbClr val="14131C"/>
                </a:solidFill>
                <a:latin typeface="Calibri" pitchFamily="34" charset="0"/>
                <a:ea typeface="Calibri" pitchFamily="34" charset="-122"/>
                <a:cs typeface="Calibri" pitchFamily="34" charset="-120"/>
              </a:rPr>
              <a:t>Firebase Auth · Razorpay · Cashfree Secure ID · Resend email · Expo push</a:t>
            </a:r>
            <a:endParaRPr lang="en-US" sz="1700" dirty="0"/>
          </a:p>
        </p:txBody>
      </p:sp>
      <p:sp>
        <p:nvSpPr>
          <p:cNvPr id="25" name="Slide Number Placeholder 0"/>
          <p:cNvSpPr>
            <a:spLocks noGrp="1"/>
          </p:cNvSpPr>
          <p:nvPr>
            <p:ph type="sldNum" sz="quarter" idx="4294967295"/>
          </p:nvPr>
        </p:nvSpPr>
        <p:spPr>
          <a:xfrm>
            <a:off x="108658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C84A1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777240" y="640080"/>
            <a:ext cx="10637215" cy="365760"/>
          </a:xfrm>
          <a:prstGeom prst="rect">
            <a:avLst/>
          </a:prstGeom>
          <a:noFill/>
          <a:ln/>
        </p:spPr>
        <p:txBody>
          <a:bodyPr wrap="square" lIns="0" tIns="0" rIns="0" bIns="0" rtlCol="0" anchor="t"/>
          <a:lstStyle/>
          <a:p>
            <a:pPr algn="l" indent="0" marL="0">
              <a:buNone/>
            </a:pPr>
            <a:r>
              <a:rPr lang="en-US" sz="1400" b="1" spc="300" kern="0" dirty="0">
                <a:solidFill>
                  <a:srgbClr val="FF8A57"/>
                </a:solidFill>
              </a:rPr>
              <a:t>ENGINEERING QUALITY</a:t>
            </a:r>
            <a:endParaRPr lang="en-US" sz="1400" dirty="0"/>
          </a:p>
        </p:txBody>
      </p:sp>
      <p:sp>
        <p:nvSpPr>
          <p:cNvPr id="3" name="Text 0"/>
          <p:cNvSpPr/>
          <p:nvPr>
            <p:ph idx="101" type="title" hasCustomPrompt="1"/>
          </p:nvPr>
        </p:nvSpPr>
        <p:spPr>
          <a:xfrm>
            <a:off x="777240" y="1005840"/>
            <a:ext cx="10637215" cy="1371600"/>
          </a:xfrm>
          <a:prstGeom prst="rect">
            <a:avLst/>
          </a:prstGeom>
          <a:noFill/>
          <a:ln/>
        </p:spPr>
        <p:txBody>
          <a:bodyPr wrap="square" lIns="0" tIns="0" rIns="0" bIns="0" rtlCol="0" anchor="t"/>
          <a:lstStyle/>
          <a:p>
            <a:pPr algn="l" indent="0" marL="0">
              <a:buNone/>
            </a:pPr>
            <a:r>
              <a:rPr lang="en-US" sz="4000" b="1" dirty="0">
                <a:solidFill>
                  <a:srgbClr val="F7F5F0"/>
                </a:solidFill>
                <a:latin typeface="Arial" pitchFamily="34" charset="0"/>
                <a:ea typeface="Arial" pitchFamily="34" charset="-122"/>
                <a:cs typeface="Arial" pitchFamily="34" charset="-120"/>
              </a:rPr>
              <a:t>Tested like it handles real money — because it does</a:t>
            </a:r>
            <a:endParaRPr lang="en-US" sz="4000" dirty="0"/>
          </a:p>
        </p:txBody>
      </p:sp>
      <p:sp>
        <p:nvSpPr>
          <p:cNvPr id="4" name="Text 2"/>
          <p:cNvSpPr txBox="1"/>
          <p:nvPr/>
        </p:nvSpPr>
        <p:spPr>
          <a:xfrm>
            <a:off x="777240" y="2926080"/>
            <a:ext cx="3271418" cy="1188720"/>
          </a:xfrm>
          <a:prstGeom prst="rect">
            <a:avLst/>
          </a:prstGeom>
          <a:noFill/>
          <a:ln/>
        </p:spPr>
        <p:txBody>
          <a:bodyPr wrap="square" lIns="0" tIns="0" rIns="0" bIns="0" rtlCol="0" anchor="t"/>
          <a:lstStyle/>
          <a:p>
            <a:pPr indent="0" marL="0">
              <a:buNone/>
            </a:pPr>
            <a:r>
              <a:rPr lang="en-US" sz="7200" b="1" dirty="0">
                <a:solidFill>
                  <a:srgbClr val="FF6B2C"/>
                </a:solidFill>
                <a:latin typeface="Arial" pitchFamily="34" charset="0"/>
                <a:ea typeface="Arial" pitchFamily="34" charset="-122"/>
                <a:cs typeface="Arial" pitchFamily="34" charset="-120"/>
              </a:rPr>
              <a:t>275</a:t>
            </a:r>
            <a:endParaRPr lang="en-US" sz="7200" dirty="0"/>
          </a:p>
        </p:txBody>
      </p:sp>
      <p:sp>
        <p:nvSpPr>
          <p:cNvPr id="5" name="Text 3"/>
          <p:cNvSpPr txBox="1"/>
          <p:nvPr/>
        </p:nvSpPr>
        <p:spPr>
          <a:xfrm>
            <a:off x="777240" y="4251960"/>
            <a:ext cx="3088538" cy="914400"/>
          </a:xfrm>
          <a:prstGeom prst="rect">
            <a:avLst/>
          </a:prstGeom>
          <a:noFill/>
          <a:ln/>
        </p:spPr>
        <p:txBody>
          <a:bodyPr wrap="square" lIns="0" tIns="0" rIns="0" bIns="0" rtlCol="0" anchor="t"/>
          <a:lstStyle/>
          <a:p>
            <a:pPr indent="0" marL="0">
              <a:buNone/>
            </a:pPr>
            <a:r>
              <a:rPr lang="en-US" sz="1700" dirty="0">
                <a:solidFill>
                  <a:srgbClr val="B9B6C4"/>
                </a:solidFill>
                <a:latin typeface="Calibri" pitchFamily="34" charset="0"/>
                <a:ea typeface="Calibri" pitchFamily="34" charset="-122"/>
                <a:cs typeface="Calibri" pitchFamily="34" charset="-120"/>
              </a:rPr>
              <a:t>automated backend tests, all passing</a:t>
            </a:r>
            <a:endParaRPr lang="en-US" sz="1700" dirty="0"/>
          </a:p>
        </p:txBody>
      </p:sp>
      <p:sp>
        <p:nvSpPr>
          <p:cNvPr id="6" name="Text 4"/>
          <p:cNvSpPr txBox="1"/>
          <p:nvPr/>
        </p:nvSpPr>
        <p:spPr>
          <a:xfrm>
            <a:off x="4460138" y="2926080"/>
            <a:ext cx="3271418" cy="1188720"/>
          </a:xfrm>
          <a:prstGeom prst="rect">
            <a:avLst/>
          </a:prstGeom>
          <a:noFill/>
          <a:ln/>
        </p:spPr>
        <p:txBody>
          <a:bodyPr wrap="square" lIns="0" tIns="0" rIns="0" bIns="0" rtlCol="0" anchor="t"/>
          <a:lstStyle/>
          <a:p>
            <a:pPr indent="0" marL="0">
              <a:buNone/>
            </a:pPr>
            <a:r>
              <a:rPr lang="en-US" sz="7200" b="1" dirty="0">
                <a:solidFill>
                  <a:srgbClr val="FF6B2C"/>
                </a:solidFill>
                <a:latin typeface="Arial" pitchFamily="34" charset="0"/>
                <a:ea typeface="Arial" pitchFamily="34" charset="-122"/>
                <a:cs typeface="Arial" pitchFamily="34" charset="-120"/>
              </a:rPr>
              <a:t>0</a:t>
            </a:r>
            <a:endParaRPr lang="en-US" sz="7200" dirty="0"/>
          </a:p>
        </p:txBody>
      </p:sp>
      <p:sp>
        <p:nvSpPr>
          <p:cNvPr id="7" name="Text 5"/>
          <p:cNvSpPr txBox="1"/>
          <p:nvPr/>
        </p:nvSpPr>
        <p:spPr>
          <a:xfrm>
            <a:off x="4460138" y="4251960"/>
            <a:ext cx="3088538" cy="914400"/>
          </a:xfrm>
          <a:prstGeom prst="rect">
            <a:avLst/>
          </a:prstGeom>
          <a:noFill/>
          <a:ln/>
        </p:spPr>
        <p:txBody>
          <a:bodyPr wrap="square" lIns="0" tIns="0" rIns="0" bIns="0" rtlCol="0" anchor="t"/>
          <a:lstStyle/>
          <a:p>
            <a:pPr indent="0" marL="0">
              <a:buNone/>
            </a:pPr>
            <a:r>
              <a:rPr lang="en-US" sz="1700" dirty="0">
                <a:solidFill>
                  <a:srgbClr val="B9B6C4"/>
                </a:solidFill>
                <a:latin typeface="Calibri" pitchFamily="34" charset="0"/>
                <a:ea typeface="Calibri" pitchFamily="34" charset="-122"/>
                <a:cs typeface="Calibri" pitchFamily="34" charset="-120"/>
              </a:rPr>
              <a:t>ways to book the same bay twice (row-locked transactions)</a:t>
            </a:r>
            <a:endParaRPr lang="en-US" sz="1700" dirty="0"/>
          </a:p>
        </p:txBody>
      </p:sp>
      <p:sp>
        <p:nvSpPr>
          <p:cNvPr id="8" name="Text 6"/>
          <p:cNvSpPr txBox="1"/>
          <p:nvPr/>
        </p:nvSpPr>
        <p:spPr>
          <a:xfrm>
            <a:off x="8143037" y="2926080"/>
            <a:ext cx="3271418" cy="1188720"/>
          </a:xfrm>
          <a:prstGeom prst="rect">
            <a:avLst/>
          </a:prstGeom>
          <a:noFill/>
          <a:ln/>
        </p:spPr>
        <p:txBody>
          <a:bodyPr wrap="square" lIns="0" tIns="0" rIns="0" bIns="0" rtlCol="0" anchor="t"/>
          <a:lstStyle/>
          <a:p>
            <a:pPr indent="0" marL="0">
              <a:buNone/>
            </a:pPr>
            <a:r>
              <a:rPr lang="en-US" sz="7200" b="1" dirty="0">
                <a:solidFill>
                  <a:srgbClr val="FF6B2C"/>
                </a:solidFill>
                <a:latin typeface="Arial" pitchFamily="34" charset="0"/>
                <a:ea typeface="Arial" pitchFamily="34" charset="-122"/>
                <a:cs typeface="Arial" pitchFamily="34" charset="-120"/>
              </a:rPr>
              <a:t>4</a:t>
            </a:r>
            <a:endParaRPr lang="en-US" sz="7200" dirty="0"/>
          </a:p>
        </p:txBody>
      </p:sp>
      <p:sp>
        <p:nvSpPr>
          <p:cNvPr id="9" name="Text 7"/>
          <p:cNvSpPr txBox="1"/>
          <p:nvPr/>
        </p:nvSpPr>
        <p:spPr>
          <a:xfrm>
            <a:off x="8143037" y="4251960"/>
            <a:ext cx="3088538" cy="914400"/>
          </a:xfrm>
          <a:prstGeom prst="rect">
            <a:avLst/>
          </a:prstGeom>
          <a:noFill/>
          <a:ln/>
        </p:spPr>
        <p:txBody>
          <a:bodyPr wrap="square" lIns="0" tIns="0" rIns="0" bIns="0" rtlCol="0" anchor="t"/>
          <a:lstStyle/>
          <a:p>
            <a:pPr indent="0" marL="0">
              <a:buNone/>
            </a:pPr>
            <a:r>
              <a:rPr lang="en-US" sz="1700" dirty="0">
                <a:solidFill>
                  <a:srgbClr val="B9B6C4"/>
                </a:solidFill>
                <a:latin typeface="Calibri" pitchFamily="34" charset="0"/>
                <a:ea typeface="Calibri" pitchFamily="34" charset="-122"/>
                <a:cs typeface="Calibri" pitchFamily="34" charset="-120"/>
              </a:rPr>
              <a:t>independent checks before any payment counts</a:t>
            </a:r>
            <a:endParaRPr lang="en-US" sz="1700" dirty="0"/>
          </a:p>
        </p:txBody>
      </p:sp>
      <p:sp>
        <p:nvSpPr>
          <p:cNvPr id="25" name="Slide Number Placeholder 0"/>
          <p:cNvSpPr>
            <a:spLocks noGrp="1"/>
          </p:cNvSpPr>
          <p:nvPr>
            <p:ph type="sldNum" sz="quarter" idx="4294967295"/>
          </p:nvPr>
        </p:nvSpPr>
        <p:spPr>
          <a:xfrm>
            <a:off x="108658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8A57"/>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777240" y="731520"/>
            <a:ext cx="5486400" cy="365760"/>
          </a:xfrm>
          <a:prstGeom prst="rect">
            <a:avLst/>
          </a:prstGeom>
          <a:noFill/>
          <a:ln/>
        </p:spPr>
        <p:txBody>
          <a:bodyPr wrap="square" lIns="0" tIns="0" rIns="0" bIns="0" rtlCol="0" anchor="t"/>
          <a:lstStyle/>
          <a:p>
            <a:pPr indent="0" marL="0">
              <a:buNone/>
            </a:pPr>
            <a:r>
              <a:rPr lang="en-US" sz="1400" b="1" spc="300" kern="0" dirty="0">
                <a:solidFill>
                  <a:srgbClr val="14131C"/>
                </a:solidFill>
                <a:latin typeface="Calibri" pitchFamily="34" charset="0"/>
                <a:ea typeface="Calibri" pitchFamily="34" charset="-122"/>
                <a:cs typeface="Calibri" pitchFamily="34" charset="-120"/>
              </a:rPr>
              <a:t>LIVE DEMO</a:t>
            </a:r>
            <a:endParaRPr lang="en-US" sz="1400" dirty="0"/>
          </a:p>
        </p:txBody>
      </p:sp>
      <p:sp>
        <p:nvSpPr>
          <p:cNvPr id="3" name="Text 1"/>
          <p:cNvSpPr txBox="1"/>
          <p:nvPr/>
        </p:nvSpPr>
        <p:spPr>
          <a:xfrm>
            <a:off x="777240" y="2011680"/>
            <a:ext cx="10637215" cy="1371600"/>
          </a:xfrm>
          <a:prstGeom prst="rect">
            <a:avLst/>
          </a:prstGeom>
          <a:noFill/>
          <a:ln/>
        </p:spPr>
        <p:txBody>
          <a:bodyPr wrap="square" lIns="0" tIns="0" rIns="0" bIns="0" rtlCol="0" anchor="t"/>
          <a:lstStyle/>
          <a:p>
            <a:pPr indent="0" marL="0">
              <a:buNone/>
            </a:pPr>
            <a:r>
              <a:rPr lang="en-US" sz="8000" b="1" dirty="0">
                <a:solidFill>
                  <a:srgbClr val="14131C"/>
                </a:solidFill>
                <a:latin typeface="Arial" pitchFamily="34" charset="0"/>
                <a:ea typeface="Arial" pitchFamily="34" charset="-122"/>
                <a:cs typeface="Arial" pitchFamily="34" charset="-120"/>
              </a:rPr>
              <a:t>Let's park.</a:t>
            </a:r>
            <a:endParaRPr lang="en-US" sz="8000" dirty="0"/>
          </a:p>
        </p:txBody>
      </p:sp>
      <p:sp>
        <p:nvSpPr>
          <p:cNvPr id="4" name="Text 2"/>
          <p:cNvSpPr txBox="1"/>
          <p:nvPr/>
        </p:nvSpPr>
        <p:spPr>
          <a:xfrm>
            <a:off x="777240" y="3657600"/>
            <a:ext cx="9601200" cy="1005840"/>
          </a:xfrm>
          <a:prstGeom prst="rect">
            <a:avLst/>
          </a:prstGeom>
          <a:noFill/>
          <a:ln/>
        </p:spPr>
        <p:txBody>
          <a:bodyPr wrap="square" lIns="0" tIns="0" rIns="0" bIns="0" rtlCol="0" anchor="t"/>
          <a:lstStyle/>
          <a:p>
            <a:pPr indent="0" marL="0">
              <a:buNone/>
            </a:pPr>
            <a:r>
              <a:rPr lang="en-US" sz="2000" dirty="0">
                <a:solidFill>
                  <a:srgbClr val="14131C"/>
                </a:solidFill>
                <a:latin typeface="Calibri" pitchFamily="34" charset="0"/>
                <a:ea typeface="Calibri" pitchFamily="34" charset="-122"/>
                <a:cs typeface="Calibri" pitchFamily="34" charset="-120"/>
              </a:rPr>
              <a:t>Login with OTP  →  find a spot nearby  →  book and pay  →  owner dashboard  →  owner verification  →  admin review</a:t>
            </a:r>
            <a:endParaRPr lang="en-US" sz="2000" dirty="0"/>
          </a:p>
        </p:txBody>
      </p:sp>
      <p:sp>
        <p:nvSpPr>
          <p:cNvPr id="5" name="Text 3"/>
          <p:cNvSpPr txBox="1"/>
          <p:nvPr/>
        </p:nvSpPr>
        <p:spPr>
          <a:xfrm>
            <a:off x="777240" y="5943600"/>
            <a:ext cx="9144000" cy="365760"/>
          </a:xfrm>
          <a:prstGeom prst="rect">
            <a:avLst/>
          </a:prstGeom>
          <a:noFill/>
          <a:ln/>
        </p:spPr>
        <p:txBody>
          <a:bodyPr wrap="square" lIns="0" tIns="0" rIns="0" bIns="0" rtlCol="0" anchor="t"/>
          <a:lstStyle/>
          <a:p>
            <a:pPr indent="0" marL="0">
              <a:buNone/>
            </a:pPr>
            <a:r>
              <a:rPr lang="en-US" sz="1400" dirty="0">
                <a:solidFill>
                  <a:srgbClr val="3A1A10"/>
                </a:solidFill>
                <a:latin typeface="Calibri" pitchFamily="34" charset="0"/>
                <a:ea typeface="Calibri" pitchFamily="34" charset="-122"/>
                <a:cs typeface="Calibri" pitchFamily="34" charset="-120"/>
              </a:rPr>
              <a:t>Running live on an Android phone, connected to our production server.</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777240" y="640080"/>
            <a:ext cx="10637215" cy="365760"/>
          </a:xfrm>
          <a:prstGeom prst="rect">
            <a:avLst/>
          </a:prstGeom>
          <a:noFill/>
          <a:ln/>
        </p:spPr>
        <p:txBody>
          <a:bodyPr wrap="square" lIns="0" tIns="0" rIns="0" bIns="0" rtlCol="0" anchor="t"/>
          <a:lstStyle/>
          <a:p>
            <a:pPr algn="l" indent="0" marL="0">
              <a:buNone/>
            </a:pPr>
            <a:r>
              <a:rPr lang="en-US" sz="1400" b="1" spc="300" kern="0" dirty="0">
                <a:solidFill>
                  <a:srgbClr val="FF8A57"/>
                </a:solidFill>
              </a:rPr>
              <a:t>WHAT'S NEXT</a:t>
            </a:r>
            <a:endParaRPr lang="en-US" sz="1400" dirty="0"/>
          </a:p>
        </p:txBody>
      </p:sp>
      <p:sp>
        <p:nvSpPr>
          <p:cNvPr id="3" name="Text 0"/>
          <p:cNvSpPr/>
          <p:nvPr>
            <p:ph idx="101" type="title" hasCustomPrompt="1"/>
          </p:nvPr>
        </p:nvSpPr>
        <p:spPr>
          <a:xfrm>
            <a:off x="777240" y="1005840"/>
            <a:ext cx="10637215" cy="1371600"/>
          </a:xfrm>
          <a:prstGeom prst="rect">
            <a:avLst/>
          </a:prstGeom>
          <a:noFill/>
          <a:ln/>
        </p:spPr>
        <p:txBody>
          <a:bodyPr wrap="square" lIns="0" tIns="0" rIns="0" bIns="0" rtlCol="0" anchor="t"/>
          <a:lstStyle/>
          <a:p>
            <a:pPr algn="l" indent="0" marL="0">
              <a:buNone/>
            </a:pPr>
            <a:r>
              <a:rPr lang="en-US" sz="4000" b="1" dirty="0">
                <a:solidFill>
                  <a:srgbClr val="F7F5F0"/>
                </a:solidFill>
                <a:latin typeface="Arial" pitchFamily="34" charset="0"/>
                <a:ea typeface="Arial" pitchFamily="34" charset="-122"/>
                <a:cs typeface="Arial" pitchFamily="34" charset="-120"/>
              </a:rPr>
              <a:t>From demo to launch</a:t>
            </a:r>
            <a:endParaRPr lang="en-US" sz="4000" dirty="0"/>
          </a:p>
        </p:txBody>
      </p:sp>
      <p:sp>
        <p:nvSpPr>
          <p:cNvPr id="4" name="Text 2"/>
          <p:cNvSpPr txBox="1"/>
          <p:nvPr/>
        </p:nvSpPr>
        <p:spPr>
          <a:xfrm>
            <a:off x="777240" y="2514600"/>
            <a:ext cx="5090008" cy="457200"/>
          </a:xfrm>
          <a:prstGeom prst="rect">
            <a:avLst/>
          </a:prstGeom>
          <a:noFill/>
          <a:ln/>
        </p:spPr>
        <p:txBody>
          <a:bodyPr wrap="square" lIns="0" tIns="0" rIns="0" bIns="0" rtlCol="0" anchor="t"/>
          <a:lstStyle/>
          <a:p>
            <a:pPr indent="0" marL="0">
              <a:buNone/>
            </a:pPr>
            <a:r>
              <a:rPr lang="en-US" sz="2200" b="1" dirty="0">
                <a:solidFill>
                  <a:srgbClr val="FF8A57"/>
                </a:solidFill>
                <a:latin typeface="Arial" pitchFamily="34" charset="0"/>
                <a:ea typeface="Arial" pitchFamily="34" charset="-122"/>
                <a:cs typeface="Arial" pitchFamily="34" charset="-120"/>
              </a:rPr>
              <a:t>Roadmap</a:t>
            </a:r>
            <a:endParaRPr lang="en-US" sz="2200" dirty="0"/>
          </a:p>
        </p:txBody>
      </p:sp>
      <p:sp>
        <p:nvSpPr>
          <p:cNvPr id="5" name="Text 3"/>
          <p:cNvSpPr txBox="1"/>
          <p:nvPr/>
        </p:nvSpPr>
        <p:spPr>
          <a:xfrm>
            <a:off x="777240" y="3108960"/>
            <a:ext cx="5090008" cy="23774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E6E3EC"/>
                </a:solidFill>
                <a:latin typeface="Calibri" pitchFamily="34" charset="0"/>
                <a:ea typeface="Calibri" pitchFamily="34" charset="-122"/>
                <a:cs typeface="Calibri" pitchFamily="34" charset="-120"/>
              </a:rPr>
              <a:t>Full owner verification live with our KYC partner</a:t>
            </a:r>
            <a:endParaRPr lang="en-US" sz="1700" dirty="0"/>
          </a:p>
          <a:p>
            <a:pPr marL="342900" indent="-342900">
              <a:spcAft>
                <a:spcPts val="1000"/>
              </a:spcAft>
              <a:buSzPct val="100000"/>
              <a:buChar char="•"/>
            </a:pPr>
            <a:r>
              <a:rPr lang="en-US" sz="1700" dirty="0">
                <a:solidFill>
                  <a:srgbClr val="E6E3EC"/>
                </a:solidFill>
                <a:latin typeface="Calibri" pitchFamily="34" charset="0"/>
                <a:ea typeface="Calibri" pitchFamily="34" charset="-122"/>
                <a:cs typeface="Calibri" pitchFamily="34" charset="-120"/>
              </a:rPr>
              <a:t>Automatic payouts to owners' verified bank accounts</a:t>
            </a:r>
            <a:endParaRPr lang="en-US" sz="1700" dirty="0"/>
          </a:p>
          <a:p>
            <a:pPr marL="342900" indent="-342900">
              <a:spcAft>
                <a:spcPts val="1000"/>
              </a:spcAft>
              <a:buSzPct val="100000"/>
              <a:buChar char="•"/>
            </a:pPr>
            <a:r>
              <a:rPr lang="en-US" sz="1700" dirty="0">
                <a:solidFill>
                  <a:srgbClr val="E6E3EC"/>
                </a:solidFill>
                <a:latin typeface="Calibri" pitchFamily="34" charset="0"/>
                <a:ea typeface="Calibri" pitchFamily="34" charset="-122"/>
                <a:cs typeface="Calibri" pitchFamily="34" charset="-120"/>
              </a:rPr>
              <a:t>Pilot launch in Bengaluru</a:t>
            </a:r>
            <a:endParaRPr lang="en-US" sz="1700" dirty="0"/>
          </a:p>
          <a:p>
            <a:pPr marL="342900" indent="-342900">
              <a:spcAft>
                <a:spcPts val="1000"/>
              </a:spcAft>
              <a:buSzPct val="100000"/>
              <a:buChar char="•"/>
            </a:pPr>
            <a:r>
              <a:rPr lang="en-US" sz="1700" dirty="0">
                <a:solidFill>
                  <a:srgbClr val="E6E3EC"/>
                </a:solidFill>
                <a:latin typeface="Calibri" pitchFamily="34" charset="0"/>
                <a:ea typeface="Calibri" pitchFamily="34" charset="-122"/>
                <a:cs typeface="Calibri" pitchFamily="34" charset="-120"/>
              </a:rPr>
              <a:t>Android release on the Play Store</a:t>
            </a:r>
            <a:endParaRPr lang="en-US" sz="1700" dirty="0"/>
          </a:p>
        </p:txBody>
      </p:sp>
      <p:sp>
        <p:nvSpPr>
          <p:cNvPr id="6" name="Ask card"/>
          <p:cNvSpPr/>
          <p:nvPr/>
        </p:nvSpPr>
        <p:spPr>
          <a:xfrm>
            <a:off x="6324448" y="2423160"/>
            <a:ext cx="5090008" cy="3017520"/>
          </a:xfrm>
          <a:prstGeom prst="roundRect">
            <a:avLst>
              <a:gd name="adj" fmla="val 3636"/>
            </a:avLst>
          </a:prstGeom>
          <a:solidFill>
            <a:srgbClr val="1A1A26"/>
          </a:solidFill>
          <a:ln w="12700">
            <a:solidFill>
              <a:srgbClr val="2E2D3D"/>
            </a:solidFill>
            <a:prstDash val="solid"/>
          </a:ln>
        </p:spPr>
      </p:sp>
      <p:sp>
        <p:nvSpPr>
          <p:cNvPr id="7" name="Text 5"/>
          <p:cNvSpPr txBox="1"/>
          <p:nvPr/>
        </p:nvSpPr>
        <p:spPr>
          <a:xfrm>
            <a:off x="6690208" y="2697480"/>
            <a:ext cx="4358488" cy="457200"/>
          </a:xfrm>
          <a:prstGeom prst="rect">
            <a:avLst/>
          </a:prstGeom>
          <a:noFill/>
          <a:ln/>
        </p:spPr>
        <p:txBody>
          <a:bodyPr wrap="square" lIns="0" tIns="0" rIns="0" bIns="0" rtlCol="0" anchor="t"/>
          <a:lstStyle/>
          <a:p>
            <a:pPr indent="0" marL="0">
              <a:buNone/>
            </a:pPr>
            <a:r>
              <a:rPr lang="en-US" sz="2200" b="1" dirty="0">
                <a:solidFill>
                  <a:srgbClr val="FF8A57"/>
                </a:solidFill>
                <a:latin typeface="Arial" pitchFamily="34" charset="0"/>
                <a:ea typeface="Arial" pitchFamily="34" charset="-122"/>
                <a:cs typeface="Arial" pitchFamily="34" charset="-120"/>
              </a:rPr>
              <a:t>We're looking for</a:t>
            </a:r>
            <a:endParaRPr lang="en-US" sz="2200" dirty="0"/>
          </a:p>
        </p:txBody>
      </p:sp>
      <p:sp>
        <p:nvSpPr>
          <p:cNvPr id="8" name="Text 6"/>
          <p:cNvSpPr txBox="1"/>
          <p:nvPr/>
        </p:nvSpPr>
        <p:spPr>
          <a:xfrm>
            <a:off x="6690208" y="3291840"/>
            <a:ext cx="4358488" cy="201168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E6E3EC"/>
                </a:solidFill>
                <a:latin typeface="Calibri" pitchFamily="34" charset="0"/>
                <a:ea typeface="Calibri" pitchFamily="34" charset="-122"/>
                <a:cs typeface="Calibri" pitchFamily="34" charset="-120"/>
              </a:rPr>
              <a:t>Pilot partners: apartments, campuses, offices</a:t>
            </a:r>
            <a:endParaRPr lang="en-US" sz="1700" dirty="0"/>
          </a:p>
          <a:p>
            <a:pPr marL="342900" indent="-342900">
              <a:spcAft>
                <a:spcPts val="1000"/>
              </a:spcAft>
              <a:buSzPct val="100000"/>
              <a:buChar char="•"/>
            </a:pPr>
            <a:r>
              <a:rPr lang="en-US" sz="1700" dirty="0">
                <a:solidFill>
                  <a:srgbClr val="E6E3EC"/>
                </a:solidFill>
                <a:latin typeface="Calibri" pitchFamily="34" charset="0"/>
                <a:ea typeface="Calibri" pitchFamily="34" charset="-122"/>
                <a:cs typeface="Calibri" pitchFamily="34" charset="-120"/>
              </a:rPr>
              <a:t>Mentors in mobility and marketplaces</a:t>
            </a:r>
            <a:endParaRPr lang="en-US" sz="1700" dirty="0"/>
          </a:p>
          <a:p>
            <a:pPr marL="342900" indent="-342900">
              <a:spcAft>
                <a:spcPts val="1000"/>
              </a:spcAft>
              <a:buSzPct val="100000"/>
              <a:buChar char="•"/>
            </a:pPr>
            <a:r>
              <a:rPr lang="en-US" sz="1700" dirty="0">
                <a:solidFill>
                  <a:srgbClr val="E6E3EC"/>
                </a:solidFill>
                <a:latin typeface="Calibri" pitchFamily="34" charset="0"/>
                <a:ea typeface="Calibri" pitchFamily="34" charset="-122"/>
                <a:cs typeface="Calibri" pitchFamily="34" charset="-120"/>
              </a:rPr>
              <a:t>Feedback from all of you today</a:t>
            </a:r>
            <a:endParaRPr lang="en-US" sz="1700" dirty="0"/>
          </a:p>
        </p:txBody>
      </p:sp>
      <p:sp>
        <p:nvSpPr>
          <p:cNvPr id="9" name="Text 7"/>
          <p:cNvSpPr txBox="1"/>
          <p:nvPr/>
        </p:nvSpPr>
        <p:spPr>
          <a:xfrm>
            <a:off x="777240" y="5897880"/>
            <a:ext cx="9144000" cy="411480"/>
          </a:xfrm>
          <a:prstGeom prst="rect">
            <a:avLst/>
          </a:prstGeom>
          <a:noFill/>
          <a:ln/>
        </p:spPr>
        <p:txBody>
          <a:bodyPr wrap="square" lIns="0" tIns="0" rIns="0" bIns="0" rtlCol="0" anchor="t"/>
          <a:lstStyle/>
          <a:p>
            <a:pPr indent="0" marL="0">
              <a:buNone/>
            </a:pPr>
            <a:r>
              <a:rPr lang="en-US" sz="1600" b="1" dirty="0">
                <a:solidFill>
                  <a:srgbClr val="F7F5F0"/>
                </a:solidFill>
                <a:latin typeface="Calibri" pitchFamily="34" charset="0"/>
                <a:ea typeface="Calibri" pitchFamily="34" charset="-122"/>
                <a:cs typeface="Calibri" pitchFamily="34" charset="-120"/>
              </a:rPr>
              <a:t>Thank you</a:t>
            </a:r>
            <a:pPr indent="0" marL="0">
              <a:buNone/>
            </a:pPr>
            <a:r>
              <a:rPr lang="en-US" sz="1600" dirty="0">
                <a:solidFill>
                  <a:srgbClr val="B9B6C4"/>
                </a:solidFill>
                <a:latin typeface="Calibri" pitchFamily="34" charset="0"/>
                <a:ea typeface="Calibri" pitchFamily="34" charset="-122"/>
                <a:cs typeface="Calibri" pitchFamily="34" charset="-120"/>
              </a:rPr>
              <a:t>   ·   poorvi@parkstop.online   ·   parkstop.online</a:t>
            </a:r>
            <a:endParaRPr lang="en-US" sz="1600" dirty="0"/>
          </a:p>
        </p:txBody>
      </p:sp>
      <p:sp>
        <p:nvSpPr>
          <p:cNvPr id="25" name="Slide Number Placeholder 0"/>
          <p:cNvSpPr>
            <a:spLocks noGrp="1"/>
          </p:cNvSpPr>
          <p:nvPr>
            <p:ph type="sldNum" sz="quarter" idx="4294967295"/>
          </p:nvPr>
        </p:nvSpPr>
        <p:spPr>
          <a:xfrm>
            <a:off x="108658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8A57"/>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ParkStop">
  <a:themeElements>
    <a:clrScheme name="ParkStop">
      <a:dk1>
        <a:srgbClr val="14131C"/>
      </a:dk1>
      <a:lt1>
        <a:srgbClr val="FFFFFF"/>
      </a:lt1>
      <a:dk2>
        <a:srgbClr val="0C0C14"/>
      </a:dk2>
      <a:lt2>
        <a:srgbClr val="F7F5F0"/>
      </a:lt2>
      <a:accent1>
        <a:srgbClr val="FF6B2C"/>
      </a:accent1>
      <a:accent2>
        <a:srgbClr val="C84A12"/>
      </a:accent2>
      <a:accent3>
        <a:srgbClr val="FF8A57"/>
      </a:accent3>
      <a:accent4>
        <a:srgbClr val="1A1A26"/>
      </a:accent4>
      <a:accent5>
        <a:srgbClr val="B9B6C4"/>
      </a:accent5>
      <a:accent6>
        <a:srgbClr val="4A4858"/>
      </a:accent6>
      <a:hlink>
        <a:srgbClr val="C84A12"/>
      </a:hlink>
      <a:folHlink>
        <a:srgbClr val="4A4858"/>
      </a:folHlink>
    </a:clrScheme>
    <a:fontScheme name="ParkStop">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ParkStop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ParkStop — Mangalore CS Tech Summit 2026</dc:title>
  <dc:subject>ParkStop product demo</dc:subject>
  <dc:creator>ParkStop</dc:creator>
  <cp:lastModifiedBy>ParkStop</cp:lastModifiedBy>
  <cp:revision>1</cp:revision>
  <dcterms:created xsi:type="dcterms:W3CDTF">2026-10-10T09:05:49Z</dcterms:created>
  <dcterms:modified xsi:type="dcterms:W3CDTF">2026-10-10T09:05:49Z</dcterms:modified>
</cp:coreProperties>
</file>